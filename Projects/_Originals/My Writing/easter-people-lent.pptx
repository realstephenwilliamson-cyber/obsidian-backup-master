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71" r:id="rId3"/>
    <p:sldId id="264" r:id="rId4"/>
    <p:sldId id="261" r:id="rId5"/>
    <p:sldId id="272"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60784" autoAdjust="0"/>
  </p:normalViewPr>
  <p:slideViewPr>
    <p:cSldViewPr snapToGrid="0" snapToObjects="1">
      <p:cViewPr varScale="1">
        <p:scale>
          <a:sx n="55" d="100"/>
          <a:sy n="55" d="100"/>
        </p:scale>
        <p:origin x="2242" y="27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906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Title Slide
Display this slide as participants arrive. You don't need to say much -- let the theme land visually first.
When ready to begin, you might open simply: 'This Lent, we're spending time with a paradox that sits at the center of Christian life: we know how the story ends, and yet we live inside it before the ending arrives. That's what we mean by Easter people in a Good Friday world.'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Revelation 21:1-5
This is the Easter horizon. The entire session has been building toward this vision -- not as a denial of Good Friday, but as the destination that gives Good Friday its meaning.
Verse 4 is the pivot: 'He will wipe every tear from their eyes.' This is not a statement that tears don't matter. It is a statement that God's response to every tear is personal, tender, and certain.
Verse 5 is the closing word for Easter people: 'See, I am making all things new.' Not 'made.' Not 'will someday make.' The present tense is intentional -- renewal is already underway, even in the middle of what feels like Good Friday.
Discussion prompt: 'What would it look like to live this week as if this promise were already in motion?'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The Daily Examen (55-60 min)
Present both questions clearly and slowly. Consider reading them aloud twice.
Explain: 'This is a practice drawn from the Ignatian tradition and adapted for our Lenten theme. Each evening -- ideally at the same time -- you sit quietly and ask yourself both questions. Not to solve anything. Just to notice.'
You may want to print these questions on a small card for participants to take home. If you have printed handouts prepared, distribute them now.
Close with a brief prayer, then invite 30 seconds of silence before the dismissal. This transition from noise to quiet -- even briefly -- enacts what the examen itself asks of us.
Suggested closing prayer: 'Lord, teach us to hold both -- the grief that is real and the hope that is also real. Guide us through this Lenten season as Easter people who do not look away. Amen.'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Key Theological Anchors
This slide supports the deeper teaching portion. You can stay here for several minutes or use it as a reference while speaking freely.
On LAMENT: Many Episcopalians have been formed in traditions that skip lament. It is worth naming explicitly that the Prayer Book includes the Office of the Dead, the Great Litany, and Ash Wednesday precisely because the church takes suffering seriously. Psalm 22 is not a failure of faith -- it is the prayer Jesus himself prayed from the cross.
On HOPE: The distinction between Christian hope and secular optimism is crucial. Paul's phrase 'hope that is not yet seen' (Romans 8:24) implies that hope is not the same as certainty or even confidence -- it is a theological posture in the face of the not-yet.
On WOUNDS: Thomas's story (John 20) is worth mentioning: resurrection does not mean the wounds disappear. The risen Christ is still scarred. This is theologically significant for anyone carrying grief into Easter.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Closing Slide
This slide is the dismissal. Display it as you offer your final words.
You might close by saying: 'We leave today as Easter people -- not because everything is resolved, but because we've practiced being honest about what isn't, and trusting anyway. Carry both with you this Lent.'
Offer the traditional dismissal if appropriate to your parish context: 'Let us go forth in the name of Christ.' // 'Thanks be to God.'
Remember: Participants who shared something vulnerable in the opening naming exercise may need a moment to decompress. Be available after the session. Don't rush the room out.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1F5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963A"/>
          </a:solidFill>
          <a:ln w="12700">
            <a:solidFill>
              <a:srgbClr val="C9963A"/>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C9963A"/>
          </a:solidFill>
          <a:ln w="12700">
            <a:solidFill>
              <a:srgbClr val="C9963A"/>
            </a:solidFill>
            <a:prstDash val="solid"/>
          </a:ln>
        </p:spPr>
        <p:txBody>
          <a:bodyPr/>
          <a:lstStyle/>
          <a:p>
            <a:endParaRPr lang="en-US"/>
          </a:p>
        </p:txBody>
      </p:sp>
      <p:sp>
        <p:nvSpPr>
          <p:cNvPr id="4" name="Shape 2"/>
          <p:cNvSpPr/>
          <p:nvPr/>
        </p:nvSpPr>
        <p:spPr>
          <a:xfrm>
            <a:off x="4407408" y="457200"/>
            <a:ext cx="329184" cy="4206240"/>
          </a:xfrm>
          <a:prstGeom prst="rect">
            <a:avLst/>
          </a:prstGeom>
          <a:solidFill>
            <a:srgbClr val="C9963A">
              <a:alpha val="25000"/>
            </a:srgbClr>
          </a:solidFill>
          <a:ln w="12700">
            <a:solidFill>
              <a:srgbClr val="C9963A">
                <a:alpha val="25000"/>
              </a:srgbClr>
            </a:solidFill>
            <a:prstDash val="solid"/>
          </a:ln>
        </p:spPr>
        <p:txBody>
          <a:bodyPr/>
          <a:lstStyle/>
          <a:p>
            <a:endParaRPr lang="en-US"/>
          </a:p>
        </p:txBody>
      </p:sp>
      <p:sp>
        <p:nvSpPr>
          <p:cNvPr id="5" name="Shape 3"/>
          <p:cNvSpPr/>
          <p:nvPr/>
        </p:nvSpPr>
        <p:spPr>
          <a:xfrm>
            <a:off x="3200400" y="1371600"/>
            <a:ext cx="2743200" cy="329184"/>
          </a:xfrm>
          <a:prstGeom prst="rect">
            <a:avLst/>
          </a:prstGeom>
          <a:solidFill>
            <a:srgbClr val="C9963A">
              <a:alpha val="25000"/>
            </a:srgbClr>
          </a:solidFill>
          <a:ln w="12700">
            <a:solidFill>
              <a:srgbClr val="C9963A">
                <a:alpha val="25000"/>
              </a:srgbClr>
            </a:solidFill>
            <a:prstDash val="solid"/>
          </a:ln>
        </p:spPr>
        <p:txBody>
          <a:bodyPr/>
          <a:lstStyle/>
          <a:p>
            <a:endParaRPr lang="en-US"/>
          </a:p>
        </p:txBody>
      </p:sp>
      <p:sp>
        <p:nvSpPr>
          <p:cNvPr id="6" name="Text 4"/>
          <p:cNvSpPr/>
          <p:nvPr/>
        </p:nvSpPr>
        <p:spPr>
          <a:xfrm>
            <a:off x="457200" y="914400"/>
            <a:ext cx="8229600" cy="2194560"/>
          </a:xfrm>
          <a:prstGeom prst="rect">
            <a:avLst/>
          </a:prstGeom>
          <a:noFill/>
          <a:ln/>
          <a:effectLst>
            <a:outerShdw blurRad="101600" dist="38100" dir="8100000" algn="bl" rotWithShape="0">
              <a:srgbClr val="000000">
                <a:alpha val="18000"/>
              </a:srgbClr>
            </a:outerShdw>
          </a:effectLst>
        </p:spPr>
        <p:txBody>
          <a:bodyPr wrap="square"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Easter People in a</a:t>
            </a:r>
            <a:endParaRPr lang="en-US" sz="4400" dirty="0"/>
          </a:p>
          <a:p>
            <a:pPr marL="0" indent="0" algn="ctr">
              <a:buNone/>
            </a:pPr>
            <a:r>
              <a:rPr lang="en-US" sz="4400" b="1" dirty="0">
                <a:solidFill>
                  <a:srgbClr val="FFFFFF"/>
                </a:solidFill>
                <a:latin typeface="Georgia" pitchFamily="34" charset="0"/>
                <a:ea typeface="Georgia" pitchFamily="34" charset="-122"/>
                <a:cs typeface="Georgia" pitchFamily="34" charset="-120"/>
              </a:rPr>
              <a:t>Good Friday World</a:t>
            </a:r>
            <a:endParaRPr lang="en-US" sz="4400" dirty="0"/>
          </a:p>
        </p:txBody>
      </p:sp>
      <p:sp>
        <p:nvSpPr>
          <p:cNvPr id="7" name="Shape 5"/>
          <p:cNvSpPr/>
          <p:nvPr/>
        </p:nvSpPr>
        <p:spPr>
          <a:xfrm>
            <a:off x="3200400" y="3154680"/>
            <a:ext cx="2743200" cy="45720"/>
          </a:xfrm>
          <a:prstGeom prst="rect">
            <a:avLst/>
          </a:prstGeom>
          <a:solidFill>
            <a:srgbClr val="F0D080"/>
          </a:solidFill>
          <a:ln w="12700">
            <a:solidFill>
              <a:srgbClr val="F0D080"/>
            </a:solidFill>
            <a:prstDash val="solid"/>
          </a:ln>
        </p:spPr>
        <p:txBody>
          <a:bodyPr/>
          <a:lstStyle/>
          <a:p>
            <a:endParaRPr lang="en-US"/>
          </a:p>
        </p:txBody>
      </p:sp>
      <p:sp>
        <p:nvSpPr>
          <p:cNvPr id="8" name="Text 6"/>
          <p:cNvSpPr/>
          <p:nvPr/>
        </p:nvSpPr>
        <p:spPr>
          <a:xfrm>
            <a:off x="457200" y="3291840"/>
            <a:ext cx="8229600" cy="457200"/>
          </a:xfrm>
          <a:prstGeom prst="rect">
            <a:avLst/>
          </a:prstGeom>
          <a:noFill/>
          <a:ln/>
        </p:spPr>
        <p:txBody>
          <a:bodyPr wrap="square" rtlCol="0" anchor="ctr"/>
          <a:lstStyle/>
          <a:p>
            <a:pPr marL="0" indent="0" algn="ctr">
              <a:buNone/>
            </a:pPr>
            <a:r>
              <a:rPr lang="en-US" sz="1800" i="1" dirty="0">
                <a:solidFill>
                  <a:srgbClr val="F0D080"/>
                </a:solidFill>
                <a:latin typeface="Calibri" pitchFamily="34" charset="0"/>
                <a:ea typeface="Calibri" pitchFamily="34" charset="-122"/>
                <a:cs typeface="Calibri" pitchFamily="34" charset="-120"/>
              </a:rPr>
              <a:t>A Lenten  Sunday School</a:t>
            </a:r>
            <a:endParaRPr lang="en-US" sz="1800" dirty="0"/>
          </a:p>
        </p:txBody>
      </p:sp>
      <p:sp>
        <p:nvSpPr>
          <p:cNvPr id="9" name="Text 7"/>
          <p:cNvSpPr/>
          <p:nvPr/>
        </p:nvSpPr>
        <p:spPr>
          <a:xfrm>
            <a:off x="457200" y="3840480"/>
            <a:ext cx="8229600" cy="365760"/>
          </a:xfrm>
          <a:prstGeom prst="rect">
            <a:avLst/>
          </a:prstGeom>
          <a:noFill/>
          <a:ln/>
        </p:spPr>
        <p:txBody>
          <a:bodyPr wrap="square" rtlCol="0" anchor="ctr"/>
          <a:lstStyle/>
          <a:p>
            <a:pPr marL="0" indent="0" algn="ctr">
              <a:buNone/>
            </a:pPr>
            <a:r>
              <a:rPr lang="en-US" sz="1300" dirty="0">
                <a:solidFill>
                  <a:srgbClr val="C9A8E0"/>
                </a:solidFill>
                <a:latin typeface="Calibri" pitchFamily="34" charset="0"/>
                <a:ea typeface="Calibri" pitchFamily="34" charset="-122"/>
                <a:cs typeface="Calibri" pitchFamily="34" charset="-120"/>
              </a:rPr>
              <a:t>Revelation 21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6">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B1F5E"/>
          </a:solidFill>
          <a:ln w="12700">
            <a:solidFill>
              <a:srgbClr val="3B1F5E"/>
            </a:solidFill>
            <a:prstDash val="solid"/>
          </a:ln>
        </p:spPr>
        <p:txBody>
          <a:bodyPr/>
          <a:lstStyle/>
          <a:p>
            <a:endParaRPr lang="en-US"/>
          </a:p>
        </p:txBody>
      </p:sp>
      <p:sp>
        <p:nvSpPr>
          <p:cNvPr id="3" name="Shape 1"/>
          <p:cNvSpPr/>
          <p:nvPr/>
        </p:nvSpPr>
        <p:spPr>
          <a:xfrm>
            <a:off x="0" y="0"/>
            <a:ext cx="54864" cy="777240"/>
          </a:xfrm>
          <a:prstGeom prst="rect">
            <a:avLst/>
          </a:prstGeom>
          <a:solidFill>
            <a:srgbClr val="C9963A"/>
          </a:solidFill>
          <a:ln w="12700">
            <a:solidFill>
              <a:srgbClr val="C9963A"/>
            </a:solidFill>
            <a:prstDash val="solid"/>
          </a:ln>
        </p:spPr>
        <p:txBody>
          <a:bodyPr/>
          <a:lstStyle/>
          <a:p>
            <a:endParaRPr lang="en-US"/>
          </a:p>
        </p:txBody>
      </p:sp>
      <p:sp>
        <p:nvSpPr>
          <p:cNvPr id="4" name="Text 2"/>
          <p:cNvSpPr/>
          <p:nvPr/>
        </p:nvSpPr>
        <p:spPr>
          <a:xfrm>
            <a:off x="228600" y="0"/>
            <a:ext cx="6858000" cy="777240"/>
          </a:xfrm>
          <a:prstGeom prst="rect">
            <a:avLst/>
          </a:prstGeom>
          <a:noFill/>
          <a:ln/>
        </p:spPr>
        <p:txBody>
          <a:bodyPr wrap="square"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Revelation 21:1-5</a:t>
            </a:r>
            <a:endParaRPr lang="en-US" sz="2200" dirty="0"/>
          </a:p>
        </p:txBody>
      </p:sp>
      <p:sp>
        <p:nvSpPr>
          <p:cNvPr id="5" name="Text 3"/>
          <p:cNvSpPr/>
          <p:nvPr/>
        </p:nvSpPr>
        <p:spPr>
          <a:xfrm>
            <a:off x="7086600" y="0"/>
            <a:ext cx="1645920" cy="777240"/>
          </a:xfrm>
          <a:prstGeom prst="rect">
            <a:avLst/>
          </a:prstGeom>
          <a:noFill/>
          <a:ln/>
        </p:spPr>
        <p:txBody>
          <a:bodyPr wrap="square" rtlCol="0" anchor="ctr"/>
          <a:lstStyle/>
          <a:p>
            <a:pPr marL="0" indent="0" algn="r">
              <a:buNone/>
            </a:pPr>
            <a:r>
              <a:rPr lang="en-US" sz="1100" b="1" dirty="0">
                <a:solidFill>
                  <a:srgbClr val="F0D080"/>
                </a:solidFill>
                <a:latin typeface="Calibri" pitchFamily="34" charset="0"/>
                <a:ea typeface="Calibri" pitchFamily="34" charset="-122"/>
                <a:cs typeface="Calibri" pitchFamily="34" charset="-120"/>
              </a:rPr>
              <a:t>NRSV</a:t>
            </a:r>
            <a:endParaRPr lang="en-US" sz="1100" dirty="0"/>
          </a:p>
        </p:txBody>
      </p:sp>
      <p:sp>
        <p:nvSpPr>
          <p:cNvPr id="7" name="Text 5"/>
          <p:cNvSpPr/>
          <p:nvPr/>
        </p:nvSpPr>
        <p:spPr>
          <a:xfrm>
            <a:off x="13857" y="874740"/>
            <a:ext cx="4475018" cy="3674780"/>
          </a:xfrm>
          <a:prstGeom prst="rect">
            <a:avLst/>
          </a:prstGeom>
          <a:noFill/>
          <a:ln/>
        </p:spPr>
        <p:txBody>
          <a:bodyPr wrap="square" rtlCol="0" anchor="t"/>
          <a:lstStyle/>
          <a:p>
            <a:pPr marL="0" indent="0" algn="l">
              <a:buNone/>
            </a:pPr>
            <a:r>
              <a:rPr lang="en-US" sz="1300" dirty="0">
                <a:solidFill>
                  <a:srgbClr val="231340"/>
                </a:solidFill>
                <a:latin typeface="Georgia" pitchFamily="34" charset="0"/>
                <a:ea typeface="Georgia" pitchFamily="34" charset="-122"/>
                <a:cs typeface="Georgia" pitchFamily="34" charset="-120"/>
              </a:rPr>
              <a:t>1 Then I saw a new heaven and a new earth; for the first heaven and the first earth had passed away, and the sea was no more.</a:t>
            </a:r>
          </a:p>
          <a:p>
            <a:pPr marL="0" indent="0" algn="l">
              <a:buNone/>
            </a:pPr>
            <a:endParaRPr lang="en-US" sz="1300" dirty="0"/>
          </a:p>
          <a:p>
            <a:pPr marL="0" indent="0" algn="l">
              <a:buNone/>
            </a:pPr>
            <a:r>
              <a:rPr lang="en-US" sz="1300" dirty="0">
                <a:solidFill>
                  <a:srgbClr val="231340"/>
                </a:solidFill>
                <a:latin typeface="Georgia" pitchFamily="34" charset="0"/>
                <a:ea typeface="Georgia" pitchFamily="34" charset="-122"/>
                <a:cs typeface="Georgia" pitchFamily="34" charset="-120"/>
              </a:rPr>
              <a:t>2 And I saw the holy city, the new Jerusalem, coming down out of heaven from God, prepared as a bride adorned for her husband.</a:t>
            </a:r>
            <a:endParaRPr lang="en-US" sz="1300" dirty="0"/>
          </a:p>
          <a:p>
            <a:pPr marL="0" indent="0" algn="l">
              <a:buNone/>
            </a:pPr>
            <a:endParaRPr lang="en-US" sz="1300" dirty="0"/>
          </a:p>
          <a:p>
            <a:pPr marL="0" indent="0" algn="l">
              <a:buNone/>
            </a:pPr>
            <a:r>
              <a:rPr lang="en-US" sz="1300" dirty="0">
                <a:solidFill>
                  <a:srgbClr val="231340"/>
                </a:solidFill>
                <a:latin typeface="Georgia" pitchFamily="34" charset="0"/>
                <a:ea typeface="Georgia" pitchFamily="34" charset="-122"/>
                <a:cs typeface="Georgia" pitchFamily="34" charset="-120"/>
              </a:rPr>
              <a:t>3 And I heard a loud voice from the throne saying,</a:t>
            </a:r>
            <a:endParaRPr lang="en-US" sz="1300" dirty="0"/>
          </a:p>
          <a:p>
            <a:pPr marL="0" indent="0" algn="l">
              <a:buNone/>
            </a:pPr>
            <a:r>
              <a:rPr lang="en-US" sz="1300" dirty="0">
                <a:solidFill>
                  <a:srgbClr val="231340"/>
                </a:solidFill>
                <a:latin typeface="Georgia" pitchFamily="34" charset="0"/>
                <a:ea typeface="Georgia" pitchFamily="34" charset="-122"/>
                <a:cs typeface="Georgia" pitchFamily="34" charset="-120"/>
              </a:rPr>
              <a:t>   'See, the home of God is among mortals.</a:t>
            </a:r>
            <a:endParaRPr lang="en-US" sz="1300" dirty="0"/>
          </a:p>
          <a:p>
            <a:pPr marL="0" indent="0" algn="l">
              <a:buNone/>
            </a:pPr>
            <a:r>
              <a:rPr lang="en-US" sz="1300" dirty="0">
                <a:solidFill>
                  <a:srgbClr val="231340"/>
                </a:solidFill>
                <a:latin typeface="Georgia" pitchFamily="34" charset="0"/>
                <a:ea typeface="Georgia" pitchFamily="34" charset="-122"/>
                <a:cs typeface="Georgia" pitchFamily="34" charset="-120"/>
              </a:rPr>
              <a:t>   He will dwell with them;</a:t>
            </a:r>
            <a:endParaRPr lang="en-US" sz="1300" dirty="0"/>
          </a:p>
          <a:p>
            <a:pPr marL="0" indent="0" algn="l">
              <a:buNone/>
            </a:pPr>
            <a:r>
              <a:rPr lang="en-US" sz="1300" dirty="0">
                <a:solidFill>
                  <a:srgbClr val="231340"/>
                </a:solidFill>
                <a:latin typeface="Georgia" pitchFamily="34" charset="0"/>
                <a:ea typeface="Georgia" pitchFamily="34" charset="-122"/>
                <a:cs typeface="Georgia" pitchFamily="34" charset="-120"/>
              </a:rPr>
              <a:t>   they will be his peoples,</a:t>
            </a:r>
            <a:endParaRPr lang="en-US" sz="1300" dirty="0"/>
          </a:p>
          <a:p>
            <a:pPr marL="0" indent="0" algn="l">
              <a:buNone/>
            </a:pPr>
            <a:r>
              <a:rPr lang="en-US" sz="1300" dirty="0">
                <a:solidFill>
                  <a:srgbClr val="231340"/>
                </a:solidFill>
                <a:latin typeface="Georgia" pitchFamily="34" charset="0"/>
                <a:ea typeface="Georgia" pitchFamily="34" charset="-122"/>
                <a:cs typeface="Georgia" pitchFamily="34" charset="-120"/>
              </a:rPr>
              <a:t>   and God himself will be with them;</a:t>
            </a:r>
            <a:endParaRPr lang="en-US" sz="1300" dirty="0"/>
          </a:p>
          <a:p>
            <a:pPr marL="0" indent="0" algn="l">
              <a:buNone/>
            </a:pPr>
            <a:endParaRPr lang="en-US" sz="1300" dirty="0">
              <a:solidFill>
                <a:srgbClr val="231340"/>
              </a:solidFill>
              <a:latin typeface="Georgia" pitchFamily="34" charset="0"/>
              <a:ea typeface="Georgia" pitchFamily="34" charset="-122"/>
              <a:cs typeface="Georgia" pitchFamily="34" charset="-120"/>
            </a:endParaRPr>
          </a:p>
          <a:p>
            <a:pPr marL="0" indent="0" algn="l">
              <a:buNone/>
            </a:pPr>
            <a:r>
              <a:rPr lang="en-US" sz="1300" dirty="0">
                <a:solidFill>
                  <a:srgbClr val="231340"/>
                </a:solidFill>
                <a:latin typeface="Georgia" pitchFamily="34" charset="0"/>
                <a:ea typeface="Georgia" pitchFamily="34" charset="-122"/>
                <a:cs typeface="Georgia" pitchFamily="34" charset="-120"/>
              </a:rPr>
              <a:t>4 he will wipe every tear from their eyes.</a:t>
            </a:r>
            <a:endParaRPr lang="en-US" sz="1300" dirty="0"/>
          </a:p>
          <a:p>
            <a:pPr marL="0" indent="0" algn="l">
              <a:buNone/>
            </a:pPr>
            <a:r>
              <a:rPr lang="en-US" sz="1300" dirty="0">
                <a:solidFill>
                  <a:srgbClr val="231340"/>
                </a:solidFill>
                <a:latin typeface="Georgia" pitchFamily="34" charset="0"/>
                <a:ea typeface="Georgia" pitchFamily="34" charset="-122"/>
                <a:cs typeface="Georgia" pitchFamily="34" charset="-120"/>
              </a:rPr>
              <a:t>   Death will be no more;</a:t>
            </a:r>
            <a:endParaRPr lang="en-US" sz="1300" dirty="0"/>
          </a:p>
          <a:p>
            <a:pPr marL="0" indent="0" algn="l">
              <a:buNone/>
            </a:pPr>
            <a:r>
              <a:rPr lang="en-US" sz="1300" dirty="0">
                <a:solidFill>
                  <a:srgbClr val="231340"/>
                </a:solidFill>
                <a:latin typeface="Georgia" pitchFamily="34" charset="0"/>
                <a:ea typeface="Georgia" pitchFamily="34" charset="-122"/>
                <a:cs typeface="Georgia" pitchFamily="34" charset="-120"/>
              </a:rPr>
              <a:t>   mourning and crying and pain will be no more,</a:t>
            </a:r>
            <a:endParaRPr lang="en-US" sz="1300" dirty="0"/>
          </a:p>
          <a:p>
            <a:pPr marL="0" indent="0" algn="l">
              <a:buNone/>
            </a:pPr>
            <a:r>
              <a:rPr lang="en-US" sz="1300" dirty="0">
                <a:solidFill>
                  <a:srgbClr val="231340"/>
                </a:solidFill>
                <a:latin typeface="Georgia" pitchFamily="34" charset="0"/>
                <a:ea typeface="Georgia" pitchFamily="34" charset="-122"/>
                <a:cs typeface="Georgia" pitchFamily="34" charset="-120"/>
              </a:rPr>
              <a:t>   for the first things have passed away.'</a:t>
            </a:r>
            <a:endParaRPr lang="en-US" sz="1300" dirty="0"/>
          </a:p>
          <a:p>
            <a:pPr marL="0" indent="0" algn="l">
              <a:buNone/>
            </a:pPr>
            <a:endParaRPr lang="en-US" sz="1300" dirty="0"/>
          </a:p>
          <a:p>
            <a:pPr marL="0" indent="0" algn="l">
              <a:buNone/>
            </a:pPr>
            <a:r>
              <a:rPr lang="en-US" sz="1300" dirty="0">
                <a:solidFill>
                  <a:srgbClr val="231340"/>
                </a:solidFill>
                <a:latin typeface="Georgia" pitchFamily="34" charset="0"/>
                <a:ea typeface="Georgia" pitchFamily="34" charset="-122"/>
                <a:cs typeface="Georgia" pitchFamily="34" charset="-120"/>
              </a:rPr>
              <a:t>5 And the one who was seated on the throne said,</a:t>
            </a:r>
            <a:endParaRPr lang="en-US" sz="1300" dirty="0"/>
          </a:p>
          <a:p>
            <a:pPr marL="0" indent="0" algn="l">
              <a:buNone/>
            </a:pPr>
            <a:r>
              <a:rPr lang="en-US" sz="1300" dirty="0">
                <a:solidFill>
                  <a:srgbClr val="231340"/>
                </a:solidFill>
                <a:latin typeface="Georgia" pitchFamily="34" charset="0"/>
                <a:ea typeface="Georgia" pitchFamily="34" charset="-122"/>
                <a:cs typeface="Georgia" pitchFamily="34" charset="-120"/>
              </a:rPr>
              <a:t>   'See, I am making all things new.'</a:t>
            </a:r>
            <a:endParaRPr lang="en-US" sz="1300" dirty="0"/>
          </a:p>
        </p:txBody>
      </p:sp>
      <p:sp>
        <p:nvSpPr>
          <p:cNvPr id="9" name="Text 5">
            <a:extLst>
              <a:ext uri="{FF2B5EF4-FFF2-40B4-BE49-F238E27FC236}">
                <a16:creationId xmlns:a16="http://schemas.microsoft.com/office/drawing/2014/main" id="{8003F0E8-57CA-3FF8-44D4-B0A92D61C83E}"/>
              </a:ext>
            </a:extLst>
          </p:cNvPr>
          <p:cNvSpPr/>
          <p:nvPr/>
        </p:nvSpPr>
        <p:spPr>
          <a:xfrm>
            <a:off x="4668982" y="960574"/>
            <a:ext cx="4475018" cy="3674780"/>
          </a:xfrm>
          <a:prstGeom prst="rect">
            <a:avLst/>
          </a:prstGeom>
          <a:noFill/>
          <a:ln/>
        </p:spPr>
        <p:txBody>
          <a:bodyPr wrap="square" rtlCol="0" anchor="t"/>
          <a:lstStyle/>
          <a:p>
            <a:pPr marL="0" indent="0" algn="l">
              <a:buNone/>
            </a:pPr>
            <a:endParaRPr lang="en-US" sz="1300" dirty="0"/>
          </a:p>
        </p:txBody>
      </p:sp>
      <p:sp>
        <p:nvSpPr>
          <p:cNvPr id="17" name="TextBox 16">
            <a:extLst>
              <a:ext uri="{FF2B5EF4-FFF2-40B4-BE49-F238E27FC236}">
                <a16:creationId xmlns:a16="http://schemas.microsoft.com/office/drawing/2014/main" id="{6B194ED5-C7A1-2FAB-CFCF-612CD264BE61}"/>
              </a:ext>
            </a:extLst>
          </p:cNvPr>
          <p:cNvSpPr txBox="1"/>
          <p:nvPr/>
        </p:nvSpPr>
        <p:spPr>
          <a:xfrm>
            <a:off x="4294909" y="874740"/>
            <a:ext cx="4849091" cy="4093428"/>
          </a:xfrm>
          <a:prstGeom prst="rect">
            <a:avLst/>
          </a:prstGeom>
          <a:noFill/>
        </p:spPr>
        <p:txBody>
          <a:bodyPr wrap="square">
            <a:spAutoFit/>
          </a:bodyPr>
          <a:lstStyle/>
          <a:p>
            <a:r>
              <a:rPr lang="en-US" sz="1300" dirty="0">
                <a:latin typeface="Georgia" panose="02040502050405020303" pitchFamily="18" charset="0"/>
              </a:rPr>
              <a:t>1. Then I saw a new spirit-world above and a new earth below. for the first spirit-world and the first earth had gone away, and the great waters of the sea were no longer there.</a:t>
            </a:r>
          </a:p>
          <a:p>
            <a:endParaRPr lang="en-US" sz="1300" dirty="0">
              <a:latin typeface="Georgia" panose="02040502050405020303" pitchFamily="18" charset="0"/>
            </a:endParaRPr>
          </a:p>
          <a:p>
            <a:r>
              <a:rPr lang="en-US" sz="1300" dirty="0">
                <a:latin typeface="Georgia" panose="02040502050405020303" pitchFamily="18" charset="0"/>
              </a:rPr>
              <a:t>2. I saw a new Sacred Village of Peace (Jerusalem) coming down from the Great Spirit in the world above and dressed in wedding regalia, like a bride made ready for her husband.</a:t>
            </a:r>
          </a:p>
          <a:p>
            <a:endParaRPr lang="en-US" sz="1300" dirty="0">
              <a:latin typeface="Georgia" panose="02040502050405020303" pitchFamily="18" charset="0"/>
            </a:endParaRPr>
          </a:p>
          <a:p>
            <a:r>
              <a:rPr lang="en-US" sz="1300" dirty="0">
                <a:latin typeface="Georgia" panose="02040502050405020303" pitchFamily="18" charset="0"/>
              </a:rPr>
              <a:t>3. I heard a voice coming from the seat of honor. "Behold," the voice said. "the Great Spirit has pitched his sacred tent</a:t>
            </a:r>
          </a:p>
          <a:p>
            <a:r>
              <a:rPr lang="en-US" sz="1300" dirty="0">
                <a:latin typeface="Georgia" panose="02040502050405020303" pitchFamily="18" charset="0"/>
              </a:rPr>
              <a:t>among human beings. They will be his people, and Creator himself will make his home among them and will be their</a:t>
            </a:r>
          </a:p>
          <a:p>
            <a:r>
              <a:rPr lang="en-US" sz="1300" dirty="0">
                <a:latin typeface="Georgia" panose="02040502050405020303" pitchFamily="18" charset="0"/>
              </a:rPr>
              <a:t>Great Spirit. </a:t>
            </a:r>
          </a:p>
          <a:p>
            <a:endParaRPr lang="en-US" sz="1300" dirty="0">
              <a:latin typeface="Georgia" panose="02040502050405020303" pitchFamily="18" charset="0"/>
            </a:endParaRPr>
          </a:p>
          <a:p>
            <a:r>
              <a:rPr lang="en-US" sz="1300" dirty="0">
                <a:latin typeface="Georgia" panose="02040502050405020303" pitchFamily="18" charset="0"/>
              </a:rPr>
              <a:t>4. He will perform a wiping of tears ceremony, for death will be no more. There will be no sorrow, no weeping, or pain, because these former things have faded away."</a:t>
            </a:r>
          </a:p>
          <a:p>
            <a:endParaRPr lang="en-US" sz="1300" dirty="0">
              <a:latin typeface="Georgia" panose="02040502050405020303" pitchFamily="18" charset="0"/>
            </a:endParaRPr>
          </a:p>
          <a:p>
            <a:r>
              <a:rPr lang="en-US" sz="1300" dirty="0">
                <a:latin typeface="Georgia" panose="02040502050405020303" pitchFamily="18" charset="0"/>
              </a:rPr>
              <a:t>5 Then the one on the seat of honor spoke again. "Behold," he said. "I am making all things fresh and new."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3B1F5E"/>
          </a:solidFill>
          <a:ln w="12700">
            <a:solidFill>
              <a:srgbClr val="3B1F5E"/>
            </a:solidFill>
            <a:prstDash val="solid"/>
          </a:ln>
        </p:spPr>
        <p:txBody>
          <a:bodyPr/>
          <a:lstStyle/>
          <a:p>
            <a:endParaRPr lang="en-US"/>
          </a:p>
        </p:txBody>
      </p:sp>
      <p:sp>
        <p:nvSpPr>
          <p:cNvPr id="6" name="Shape 4"/>
          <p:cNvSpPr/>
          <p:nvPr/>
        </p:nvSpPr>
        <p:spPr>
          <a:xfrm>
            <a:off x="320040" y="1463040"/>
            <a:ext cx="4023360" cy="2926080"/>
          </a:xfrm>
          <a:prstGeom prst="rect">
            <a:avLst/>
          </a:prstGeom>
          <a:solidFill>
            <a:srgbClr val="3B1F5E"/>
          </a:solidFill>
          <a:ln w="12700">
            <a:solidFill>
              <a:srgbClr val="3B1F5E"/>
            </a:solidFill>
            <a:prstDash val="solid"/>
          </a:ln>
          <a:effectLst>
            <a:outerShdw blurRad="101600" dist="38100" dir="8100000" algn="bl" rotWithShape="0">
              <a:srgbClr val="000000">
                <a:alpha val="18000"/>
              </a:srgbClr>
            </a:outerShdw>
          </a:effectLst>
        </p:spPr>
        <p:txBody>
          <a:bodyPr/>
          <a:lstStyle/>
          <a:p>
            <a:endParaRPr lang="en-US"/>
          </a:p>
        </p:txBody>
      </p:sp>
      <p:sp>
        <p:nvSpPr>
          <p:cNvPr id="7" name="Shape 5"/>
          <p:cNvSpPr/>
          <p:nvPr/>
        </p:nvSpPr>
        <p:spPr>
          <a:xfrm>
            <a:off x="320040" y="1463040"/>
            <a:ext cx="4023360" cy="502920"/>
          </a:xfrm>
          <a:prstGeom prst="rect">
            <a:avLst/>
          </a:prstGeom>
          <a:solidFill>
            <a:srgbClr val="5C2D6E"/>
          </a:solidFill>
          <a:ln w="12700">
            <a:solidFill>
              <a:srgbClr val="5C2D6E"/>
            </a:solidFill>
            <a:prstDash val="solid"/>
          </a:ln>
        </p:spPr>
        <p:txBody>
          <a:bodyPr/>
          <a:lstStyle/>
          <a:p>
            <a:endParaRPr lang="en-US"/>
          </a:p>
        </p:txBody>
      </p:sp>
      <p:sp>
        <p:nvSpPr>
          <p:cNvPr id="8" name="Text 6"/>
          <p:cNvSpPr/>
          <p:nvPr/>
        </p:nvSpPr>
        <p:spPr>
          <a:xfrm>
            <a:off x="457200" y="1490472"/>
            <a:ext cx="3749040" cy="438912"/>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Good Friday</a:t>
            </a:r>
            <a:endParaRPr lang="en-US" sz="1800" dirty="0"/>
          </a:p>
        </p:txBody>
      </p:sp>
      <p:sp>
        <p:nvSpPr>
          <p:cNvPr id="9" name="Text 7"/>
          <p:cNvSpPr/>
          <p:nvPr/>
        </p:nvSpPr>
        <p:spPr>
          <a:xfrm>
            <a:off x="502920" y="2103120"/>
            <a:ext cx="3657600" cy="1371600"/>
          </a:xfrm>
          <a:prstGeom prst="rect">
            <a:avLst/>
          </a:prstGeom>
          <a:noFill/>
          <a:ln/>
        </p:spPr>
        <p:txBody>
          <a:bodyPr wrap="square" rtlCol="0" anchor="ctr"/>
          <a:lstStyle/>
          <a:p>
            <a:pPr marL="0" indent="0" algn="ctr">
              <a:buNone/>
            </a:pPr>
            <a:r>
              <a:rPr lang="en-US" sz="1500" i="1" dirty="0">
                <a:solidFill>
                  <a:srgbClr val="E8D0F8"/>
                </a:solidFill>
                <a:latin typeface="Georgia" pitchFamily="34" charset="0"/>
                <a:ea typeface="Georgia" pitchFamily="34" charset="-122"/>
                <a:cs typeface="Georgia" pitchFamily="34" charset="-120"/>
              </a:rPr>
              <a:t>Where did I encounter suffering, loss, or darkness today -- in myself or the world?</a:t>
            </a:r>
            <a:endParaRPr lang="en-US" sz="1500" dirty="0"/>
          </a:p>
        </p:txBody>
      </p:sp>
      <p:sp>
        <p:nvSpPr>
          <p:cNvPr id="10" name="Text 8"/>
          <p:cNvSpPr/>
          <p:nvPr/>
        </p:nvSpPr>
        <p:spPr>
          <a:xfrm>
            <a:off x="502920" y="3520440"/>
            <a:ext cx="3657600" cy="640080"/>
          </a:xfrm>
          <a:prstGeom prst="rect">
            <a:avLst/>
          </a:prstGeom>
          <a:noFill/>
          <a:ln/>
        </p:spPr>
        <p:txBody>
          <a:bodyPr wrap="square" rtlCol="0" anchor="ctr"/>
          <a:lstStyle/>
          <a:p>
            <a:pPr marL="0" indent="0" algn="ctr">
              <a:buNone/>
            </a:pPr>
            <a:r>
              <a:rPr lang="en-US" sz="1200" dirty="0">
                <a:solidFill>
                  <a:srgbClr val="C0A0D8"/>
                </a:solidFill>
                <a:latin typeface="Calibri" pitchFamily="34" charset="0"/>
                <a:ea typeface="Calibri" pitchFamily="34" charset="-122"/>
                <a:cs typeface="Calibri" pitchFamily="34" charset="-120"/>
              </a:rPr>
              <a:t>Bring your honest grief to God without rushing toward resolution.</a:t>
            </a:r>
            <a:endParaRPr lang="en-US" sz="1200" dirty="0"/>
          </a:p>
        </p:txBody>
      </p:sp>
      <p:sp>
        <p:nvSpPr>
          <p:cNvPr id="11" name="Shape 9"/>
          <p:cNvSpPr/>
          <p:nvPr/>
        </p:nvSpPr>
        <p:spPr>
          <a:xfrm>
            <a:off x="4800600" y="1463040"/>
            <a:ext cx="4023360" cy="2926080"/>
          </a:xfrm>
          <a:prstGeom prst="rect">
            <a:avLst/>
          </a:prstGeom>
          <a:solidFill>
            <a:srgbClr val="5A3E00"/>
          </a:solidFill>
          <a:ln w="12700">
            <a:solidFill>
              <a:srgbClr val="5A3E00"/>
            </a:solidFill>
            <a:prstDash val="solid"/>
          </a:ln>
          <a:effectLst>
            <a:outerShdw blurRad="101600" dist="38100" dir="8100000" algn="bl" rotWithShape="0">
              <a:srgbClr val="000000">
                <a:alpha val="18000"/>
              </a:srgbClr>
            </a:outerShdw>
          </a:effectLst>
        </p:spPr>
        <p:txBody>
          <a:bodyPr/>
          <a:lstStyle/>
          <a:p>
            <a:endParaRPr lang="en-US"/>
          </a:p>
        </p:txBody>
      </p:sp>
      <p:sp>
        <p:nvSpPr>
          <p:cNvPr id="12" name="Shape 10"/>
          <p:cNvSpPr/>
          <p:nvPr/>
        </p:nvSpPr>
        <p:spPr>
          <a:xfrm>
            <a:off x="4800600" y="1463040"/>
            <a:ext cx="4023360" cy="502920"/>
          </a:xfrm>
          <a:prstGeom prst="rect">
            <a:avLst/>
          </a:prstGeom>
          <a:solidFill>
            <a:srgbClr val="C9963A"/>
          </a:solidFill>
          <a:ln w="12700">
            <a:solidFill>
              <a:srgbClr val="C9963A"/>
            </a:solidFill>
            <a:prstDash val="solid"/>
          </a:ln>
        </p:spPr>
        <p:txBody>
          <a:bodyPr/>
          <a:lstStyle/>
          <a:p>
            <a:endParaRPr lang="en-US"/>
          </a:p>
        </p:txBody>
      </p:sp>
      <p:sp>
        <p:nvSpPr>
          <p:cNvPr id="13" name="Text 11"/>
          <p:cNvSpPr/>
          <p:nvPr/>
        </p:nvSpPr>
        <p:spPr>
          <a:xfrm>
            <a:off x="4892040" y="1490472"/>
            <a:ext cx="3749040" cy="438912"/>
          </a:xfrm>
          <a:prstGeom prst="rect">
            <a:avLst/>
          </a:prstGeom>
          <a:noFill/>
          <a:ln/>
        </p:spPr>
        <p:txBody>
          <a:bodyPr wrap="square" rtlCol="0" anchor="ctr"/>
          <a:lstStyle/>
          <a:p>
            <a:pPr marL="0" indent="0" algn="ctr">
              <a:buNone/>
            </a:pPr>
            <a:r>
              <a:rPr lang="en-US" sz="1800" b="1" dirty="0">
                <a:solidFill>
                  <a:srgbClr val="3B1F5E"/>
                </a:solidFill>
                <a:latin typeface="Georgia" pitchFamily="34" charset="0"/>
                <a:ea typeface="Georgia" pitchFamily="34" charset="-122"/>
                <a:cs typeface="Georgia" pitchFamily="34" charset="-120"/>
              </a:rPr>
              <a:t>Easter</a:t>
            </a:r>
            <a:endParaRPr lang="en-US" sz="1800" dirty="0"/>
          </a:p>
        </p:txBody>
      </p:sp>
      <p:sp>
        <p:nvSpPr>
          <p:cNvPr id="14" name="Text 12"/>
          <p:cNvSpPr/>
          <p:nvPr/>
        </p:nvSpPr>
        <p:spPr>
          <a:xfrm>
            <a:off x="4892040" y="2103120"/>
            <a:ext cx="3657600" cy="1371600"/>
          </a:xfrm>
          <a:prstGeom prst="rect">
            <a:avLst/>
          </a:prstGeom>
          <a:noFill/>
          <a:ln/>
        </p:spPr>
        <p:txBody>
          <a:bodyPr wrap="square" rtlCol="0" anchor="ctr"/>
          <a:lstStyle/>
          <a:p>
            <a:pPr marL="0" indent="0" algn="ctr">
              <a:buNone/>
            </a:pPr>
            <a:r>
              <a:rPr lang="en-US" sz="1500" i="1" dirty="0">
                <a:solidFill>
                  <a:srgbClr val="F0D080"/>
                </a:solidFill>
                <a:latin typeface="Georgia" pitchFamily="34" charset="0"/>
                <a:ea typeface="Georgia" pitchFamily="34" charset="-122"/>
                <a:cs typeface="Georgia" pitchFamily="34" charset="-120"/>
              </a:rPr>
              <a:t>Where did I glimpse resurrection -- new life, unexpected grace, or stubborn hope?</a:t>
            </a:r>
            <a:endParaRPr lang="en-US" sz="1500" dirty="0"/>
          </a:p>
        </p:txBody>
      </p:sp>
      <p:sp>
        <p:nvSpPr>
          <p:cNvPr id="15" name="Text 13"/>
          <p:cNvSpPr/>
          <p:nvPr/>
        </p:nvSpPr>
        <p:spPr>
          <a:xfrm>
            <a:off x="4892040" y="3520440"/>
            <a:ext cx="3657600" cy="640080"/>
          </a:xfrm>
          <a:prstGeom prst="rect">
            <a:avLst/>
          </a:prstGeom>
          <a:noFill/>
          <a:ln/>
        </p:spPr>
        <p:txBody>
          <a:bodyPr wrap="square" rtlCol="0" anchor="ctr"/>
          <a:lstStyle/>
          <a:p>
            <a:pPr marL="0" indent="0" algn="ctr">
              <a:buNone/>
            </a:pPr>
            <a:r>
              <a:rPr lang="en-US" sz="1200" dirty="0">
                <a:solidFill>
                  <a:srgbClr val="D4A820"/>
                </a:solidFill>
                <a:latin typeface="Calibri" pitchFamily="34" charset="0"/>
                <a:ea typeface="Calibri" pitchFamily="34" charset="-122"/>
                <a:cs typeface="Calibri" pitchFamily="34" charset="-120"/>
              </a:rPr>
              <a:t>Look for the small, stubborn signs of life even in difficult days.</a:t>
            </a:r>
            <a:endParaRPr lang="en-US" sz="1200" dirty="0"/>
          </a:p>
        </p:txBody>
      </p:sp>
      <p:sp>
        <p:nvSpPr>
          <p:cNvPr id="16" name="Text 14"/>
          <p:cNvSpPr/>
          <p:nvPr/>
        </p:nvSpPr>
        <p:spPr>
          <a:xfrm>
            <a:off x="365760" y="4526280"/>
            <a:ext cx="8412480" cy="365760"/>
          </a:xfrm>
          <a:prstGeom prst="rect">
            <a:avLst/>
          </a:prstGeom>
          <a:noFill/>
          <a:ln/>
        </p:spPr>
        <p:txBody>
          <a:bodyPr wrap="square" rtlCol="0" anchor="ctr"/>
          <a:lstStyle/>
          <a:p>
            <a:pPr marL="0" indent="0" algn="ctr">
              <a:buNone/>
            </a:pPr>
            <a:r>
              <a:rPr lang="en-US" sz="1300" i="1" dirty="0">
                <a:solidFill>
                  <a:srgbClr val="6B4F8A"/>
                </a:solidFill>
                <a:latin typeface="Calibri" pitchFamily="34" charset="0"/>
                <a:ea typeface="Calibri" pitchFamily="34" charset="-122"/>
                <a:cs typeface="Calibri" pitchFamily="34" charset="-120"/>
              </a:rPr>
              <a:t>The light doesn't vanish. It waits.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Key Theological Anchors</a:t>
            </a:r>
            <a:endParaRPr lang="en-US" sz="3000" dirty="0"/>
          </a:p>
        </p:txBody>
      </p:sp>
      <p:sp>
        <p:nvSpPr>
          <p:cNvPr id="3" name="Shape 1"/>
          <p:cNvSpPr/>
          <p:nvPr/>
        </p:nvSpPr>
        <p:spPr>
          <a:xfrm>
            <a:off x="457200" y="868680"/>
            <a:ext cx="8229600" cy="36576"/>
          </a:xfrm>
          <a:prstGeom prst="rect">
            <a:avLst/>
          </a:prstGeom>
          <a:solidFill>
            <a:srgbClr val="C9963A"/>
          </a:solidFill>
          <a:ln w="12700">
            <a:solidFill>
              <a:srgbClr val="C9963A"/>
            </a:solidFill>
            <a:prstDash val="solid"/>
          </a:ln>
        </p:spPr>
        <p:txBody>
          <a:bodyPr/>
          <a:lstStyle/>
          <a:p>
            <a:endParaRPr lang="en-US"/>
          </a:p>
        </p:txBody>
      </p:sp>
      <p:sp>
        <p:nvSpPr>
          <p:cNvPr id="4" name="Shape 2"/>
          <p:cNvSpPr/>
          <p:nvPr/>
        </p:nvSpPr>
        <p:spPr>
          <a:xfrm>
            <a:off x="365760" y="1051560"/>
            <a:ext cx="8412480" cy="804672"/>
          </a:xfrm>
          <a:prstGeom prst="rect">
            <a:avLst/>
          </a:prstGeom>
          <a:solidFill>
            <a:srgbClr val="4A2870"/>
          </a:solidFill>
          <a:ln w="6350">
            <a:solidFill>
              <a:srgbClr val="6B4399"/>
            </a:solidFill>
            <a:prstDash val="solid"/>
          </a:ln>
        </p:spPr>
        <p:txBody>
          <a:bodyPr/>
          <a:lstStyle/>
          <a:p>
            <a:endParaRPr lang="en-US"/>
          </a:p>
        </p:txBody>
      </p:sp>
      <p:sp>
        <p:nvSpPr>
          <p:cNvPr id="5" name="Shape 3"/>
          <p:cNvSpPr/>
          <p:nvPr/>
        </p:nvSpPr>
        <p:spPr>
          <a:xfrm>
            <a:off x="365760" y="1051560"/>
            <a:ext cx="54864" cy="804672"/>
          </a:xfrm>
          <a:prstGeom prst="rect">
            <a:avLst/>
          </a:prstGeom>
          <a:solidFill>
            <a:srgbClr val="C9963A"/>
          </a:solidFill>
          <a:ln w="12700">
            <a:solidFill>
              <a:srgbClr val="C9963A"/>
            </a:solidFill>
            <a:prstDash val="solid"/>
          </a:ln>
        </p:spPr>
        <p:txBody>
          <a:bodyPr/>
          <a:lstStyle/>
          <a:p>
            <a:endParaRPr lang="en-US"/>
          </a:p>
        </p:txBody>
      </p:sp>
      <p:sp>
        <p:nvSpPr>
          <p:cNvPr id="6" name="Text 4"/>
          <p:cNvSpPr/>
          <p:nvPr/>
        </p:nvSpPr>
        <p:spPr>
          <a:xfrm>
            <a:off x="594360" y="1088136"/>
            <a:ext cx="2560320" cy="320040"/>
          </a:xfrm>
          <a:prstGeom prst="rect">
            <a:avLst/>
          </a:prstGeom>
          <a:noFill/>
          <a:ln/>
        </p:spPr>
        <p:txBody>
          <a:bodyPr wrap="square" lIns="0" tIns="0" rIns="0" bIns="0" rtlCol="0" anchor="ctr"/>
          <a:lstStyle/>
          <a:p>
            <a:pPr marL="0" indent="0" algn="l">
              <a:buNone/>
            </a:pPr>
            <a:r>
              <a:rPr lang="en-US" sz="1300" b="1" dirty="0">
                <a:solidFill>
                  <a:srgbClr val="F0D080"/>
                </a:solidFill>
                <a:latin typeface="Georgia" pitchFamily="34" charset="0"/>
                <a:ea typeface="Georgia" pitchFamily="34" charset="-122"/>
                <a:cs typeface="Georgia" pitchFamily="34" charset="-120"/>
              </a:rPr>
              <a:t>Lament Is Liturgical</a:t>
            </a:r>
            <a:endParaRPr lang="en-US" sz="1300" dirty="0"/>
          </a:p>
        </p:txBody>
      </p:sp>
      <p:sp>
        <p:nvSpPr>
          <p:cNvPr id="7" name="Text 5"/>
          <p:cNvSpPr/>
          <p:nvPr/>
        </p:nvSpPr>
        <p:spPr>
          <a:xfrm>
            <a:off x="3291840" y="1088136"/>
            <a:ext cx="5303520" cy="731520"/>
          </a:xfrm>
          <a:prstGeom prst="rect">
            <a:avLst/>
          </a:prstGeom>
          <a:noFill/>
          <a:ln/>
        </p:spPr>
        <p:txBody>
          <a:bodyPr wrap="square" rtlCol="0" anchor="ctr"/>
          <a:lstStyle/>
          <a:p>
            <a:pPr marL="0" indent="0" algn="l">
              <a:buNone/>
            </a:pPr>
            <a:r>
              <a:rPr lang="en-US" sz="1200" dirty="0">
                <a:solidFill>
                  <a:srgbClr val="D8C8F0"/>
                </a:solidFill>
                <a:latin typeface="Calibri" pitchFamily="34" charset="0"/>
                <a:ea typeface="Calibri" pitchFamily="34" charset="-122"/>
                <a:cs typeface="Calibri" pitchFamily="34" charset="-120"/>
              </a:rPr>
              <a:t>The Psalms of lament -- including Psalm 22, which Jesus quotes from the cross -- show us that bringing raw grief to God is not a failure of faith. It is faith.</a:t>
            </a:r>
            <a:endParaRPr lang="en-US" sz="1200" dirty="0"/>
          </a:p>
        </p:txBody>
      </p:sp>
      <p:sp>
        <p:nvSpPr>
          <p:cNvPr id="8" name="Shape 6"/>
          <p:cNvSpPr/>
          <p:nvPr/>
        </p:nvSpPr>
        <p:spPr>
          <a:xfrm>
            <a:off x="3200400" y="1124712"/>
            <a:ext cx="36576" cy="658368"/>
          </a:xfrm>
          <a:prstGeom prst="rect">
            <a:avLst/>
          </a:prstGeom>
          <a:solidFill>
            <a:srgbClr val="C9963A">
              <a:alpha val="50000"/>
            </a:srgbClr>
          </a:solidFill>
          <a:ln w="12700">
            <a:solidFill>
              <a:srgbClr val="C9963A">
                <a:alpha val="50000"/>
              </a:srgbClr>
            </a:solidFill>
            <a:prstDash val="solid"/>
          </a:ln>
        </p:spPr>
        <p:txBody>
          <a:bodyPr/>
          <a:lstStyle/>
          <a:p>
            <a:endParaRPr lang="en-US"/>
          </a:p>
        </p:txBody>
      </p:sp>
      <p:sp>
        <p:nvSpPr>
          <p:cNvPr id="9" name="Shape 7"/>
          <p:cNvSpPr/>
          <p:nvPr/>
        </p:nvSpPr>
        <p:spPr>
          <a:xfrm>
            <a:off x="365760" y="2011680"/>
            <a:ext cx="8412480" cy="804672"/>
          </a:xfrm>
          <a:prstGeom prst="rect">
            <a:avLst/>
          </a:prstGeom>
          <a:solidFill>
            <a:srgbClr val="4A2870"/>
          </a:solidFill>
          <a:ln w="6350">
            <a:solidFill>
              <a:srgbClr val="6B4399"/>
            </a:solidFill>
            <a:prstDash val="solid"/>
          </a:ln>
        </p:spPr>
        <p:txBody>
          <a:bodyPr/>
          <a:lstStyle/>
          <a:p>
            <a:endParaRPr lang="en-US"/>
          </a:p>
        </p:txBody>
      </p:sp>
      <p:sp>
        <p:nvSpPr>
          <p:cNvPr id="10" name="Shape 8"/>
          <p:cNvSpPr/>
          <p:nvPr/>
        </p:nvSpPr>
        <p:spPr>
          <a:xfrm>
            <a:off x="365760" y="2011680"/>
            <a:ext cx="54864" cy="804672"/>
          </a:xfrm>
          <a:prstGeom prst="rect">
            <a:avLst/>
          </a:prstGeom>
          <a:solidFill>
            <a:srgbClr val="C9963A"/>
          </a:solidFill>
          <a:ln w="12700">
            <a:solidFill>
              <a:srgbClr val="C9963A"/>
            </a:solidFill>
            <a:prstDash val="solid"/>
          </a:ln>
        </p:spPr>
        <p:txBody>
          <a:bodyPr/>
          <a:lstStyle/>
          <a:p>
            <a:endParaRPr lang="en-US"/>
          </a:p>
        </p:txBody>
      </p:sp>
      <p:sp>
        <p:nvSpPr>
          <p:cNvPr id="11" name="Text 9"/>
          <p:cNvSpPr/>
          <p:nvPr/>
        </p:nvSpPr>
        <p:spPr>
          <a:xfrm>
            <a:off x="594360" y="2048256"/>
            <a:ext cx="2560320" cy="320040"/>
          </a:xfrm>
          <a:prstGeom prst="rect">
            <a:avLst/>
          </a:prstGeom>
          <a:noFill/>
          <a:ln/>
        </p:spPr>
        <p:txBody>
          <a:bodyPr wrap="square" lIns="0" tIns="0" rIns="0" bIns="0" rtlCol="0" anchor="ctr"/>
          <a:lstStyle/>
          <a:p>
            <a:pPr marL="0" indent="0" algn="l">
              <a:buNone/>
            </a:pPr>
            <a:r>
              <a:rPr lang="en-US" sz="1300" b="1" dirty="0">
                <a:solidFill>
                  <a:srgbClr val="F0D080"/>
                </a:solidFill>
                <a:latin typeface="Georgia" pitchFamily="34" charset="0"/>
                <a:ea typeface="Georgia" pitchFamily="34" charset="-122"/>
                <a:cs typeface="Georgia" pitchFamily="34" charset="-120"/>
              </a:rPr>
              <a:t>Hope Is Not Optimism</a:t>
            </a:r>
            <a:endParaRPr lang="en-US" sz="1300" dirty="0"/>
          </a:p>
        </p:txBody>
      </p:sp>
      <p:sp>
        <p:nvSpPr>
          <p:cNvPr id="12" name="Text 10"/>
          <p:cNvSpPr/>
          <p:nvPr/>
        </p:nvSpPr>
        <p:spPr>
          <a:xfrm>
            <a:off x="3291840" y="2048256"/>
            <a:ext cx="5303520" cy="731520"/>
          </a:xfrm>
          <a:prstGeom prst="rect">
            <a:avLst/>
          </a:prstGeom>
          <a:noFill/>
          <a:ln/>
        </p:spPr>
        <p:txBody>
          <a:bodyPr wrap="square" rtlCol="0" anchor="ctr"/>
          <a:lstStyle/>
          <a:p>
            <a:pPr marL="0" indent="0" algn="l">
              <a:buNone/>
            </a:pPr>
            <a:r>
              <a:rPr lang="en-US" sz="1200" dirty="0">
                <a:solidFill>
                  <a:srgbClr val="D8C8F0"/>
                </a:solidFill>
                <a:latin typeface="Calibri" pitchFamily="34" charset="0"/>
                <a:ea typeface="Calibri" pitchFamily="34" charset="-122"/>
                <a:cs typeface="Calibri" pitchFamily="34" charset="-120"/>
              </a:rPr>
              <a:t>Paul writes in Romans 8 of hope that is 'not yet seen.' This is hope with teeth -- not wishful thinking, but a theological claim about the direction of history.</a:t>
            </a:r>
            <a:endParaRPr lang="en-US" sz="1200" dirty="0"/>
          </a:p>
        </p:txBody>
      </p:sp>
      <p:sp>
        <p:nvSpPr>
          <p:cNvPr id="13" name="Shape 11"/>
          <p:cNvSpPr/>
          <p:nvPr/>
        </p:nvSpPr>
        <p:spPr>
          <a:xfrm>
            <a:off x="3200400" y="2084832"/>
            <a:ext cx="36576" cy="658368"/>
          </a:xfrm>
          <a:prstGeom prst="rect">
            <a:avLst/>
          </a:prstGeom>
          <a:solidFill>
            <a:srgbClr val="C9963A">
              <a:alpha val="50000"/>
            </a:srgbClr>
          </a:solidFill>
          <a:ln w="12700">
            <a:solidFill>
              <a:srgbClr val="C9963A">
                <a:alpha val="50000"/>
              </a:srgbClr>
            </a:solidFill>
            <a:prstDash val="solid"/>
          </a:ln>
        </p:spPr>
        <p:txBody>
          <a:bodyPr/>
          <a:lstStyle/>
          <a:p>
            <a:endParaRPr lang="en-US"/>
          </a:p>
        </p:txBody>
      </p:sp>
      <p:sp>
        <p:nvSpPr>
          <p:cNvPr id="14" name="Shape 12"/>
          <p:cNvSpPr/>
          <p:nvPr/>
        </p:nvSpPr>
        <p:spPr>
          <a:xfrm>
            <a:off x="365760" y="2971800"/>
            <a:ext cx="8412480" cy="804672"/>
          </a:xfrm>
          <a:prstGeom prst="rect">
            <a:avLst/>
          </a:prstGeom>
          <a:solidFill>
            <a:srgbClr val="4A2870"/>
          </a:solidFill>
          <a:ln w="6350">
            <a:solidFill>
              <a:srgbClr val="6B4399"/>
            </a:solidFill>
            <a:prstDash val="solid"/>
          </a:ln>
        </p:spPr>
        <p:txBody>
          <a:bodyPr/>
          <a:lstStyle/>
          <a:p>
            <a:endParaRPr lang="en-US"/>
          </a:p>
        </p:txBody>
      </p:sp>
      <p:sp>
        <p:nvSpPr>
          <p:cNvPr id="15" name="Shape 13"/>
          <p:cNvSpPr/>
          <p:nvPr/>
        </p:nvSpPr>
        <p:spPr>
          <a:xfrm>
            <a:off x="365760" y="2971800"/>
            <a:ext cx="54864" cy="804672"/>
          </a:xfrm>
          <a:prstGeom prst="rect">
            <a:avLst/>
          </a:prstGeom>
          <a:solidFill>
            <a:srgbClr val="C9963A"/>
          </a:solidFill>
          <a:ln w="12700">
            <a:solidFill>
              <a:srgbClr val="C9963A"/>
            </a:solidFill>
            <a:prstDash val="solid"/>
          </a:ln>
        </p:spPr>
        <p:txBody>
          <a:bodyPr/>
          <a:lstStyle/>
          <a:p>
            <a:endParaRPr lang="en-US"/>
          </a:p>
        </p:txBody>
      </p:sp>
      <p:sp>
        <p:nvSpPr>
          <p:cNvPr id="16" name="Text 14"/>
          <p:cNvSpPr/>
          <p:nvPr/>
        </p:nvSpPr>
        <p:spPr>
          <a:xfrm>
            <a:off x="594360" y="3008376"/>
            <a:ext cx="2560320" cy="320040"/>
          </a:xfrm>
          <a:prstGeom prst="rect">
            <a:avLst/>
          </a:prstGeom>
          <a:noFill/>
          <a:ln/>
        </p:spPr>
        <p:txBody>
          <a:bodyPr wrap="square" lIns="0" tIns="0" rIns="0" bIns="0" rtlCol="0" anchor="ctr"/>
          <a:lstStyle/>
          <a:p>
            <a:pPr marL="0" indent="0" algn="l">
              <a:buNone/>
            </a:pPr>
            <a:r>
              <a:rPr lang="en-US" sz="1300" b="1" dirty="0">
                <a:solidFill>
                  <a:srgbClr val="F0D080"/>
                </a:solidFill>
                <a:latin typeface="Georgia" pitchFamily="34" charset="0"/>
                <a:ea typeface="Georgia" pitchFamily="34" charset="-122"/>
                <a:cs typeface="Georgia" pitchFamily="34" charset="-120"/>
              </a:rPr>
              <a:t>Resurrection Keeps the Wounds</a:t>
            </a:r>
            <a:endParaRPr lang="en-US" sz="1300" dirty="0"/>
          </a:p>
        </p:txBody>
      </p:sp>
      <p:sp>
        <p:nvSpPr>
          <p:cNvPr id="17" name="Text 15"/>
          <p:cNvSpPr/>
          <p:nvPr/>
        </p:nvSpPr>
        <p:spPr>
          <a:xfrm>
            <a:off x="3291840" y="3008376"/>
            <a:ext cx="5303520" cy="731520"/>
          </a:xfrm>
          <a:prstGeom prst="rect">
            <a:avLst/>
          </a:prstGeom>
          <a:noFill/>
          <a:ln/>
        </p:spPr>
        <p:txBody>
          <a:bodyPr wrap="square" rtlCol="0" anchor="ctr"/>
          <a:lstStyle/>
          <a:p>
            <a:pPr marL="0" indent="0" algn="l">
              <a:buNone/>
            </a:pPr>
            <a:r>
              <a:rPr lang="en-US" sz="1200" dirty="0">
                <a:solidFill>
                  <a:srgbClr val="D8C8F0"/>
                </a:solidFill>
                <a:latin typeface="Calibri" pitchFamily="34" charset="0"/>
                <a:ea typeface="Calibri" pitchFamily="34" charset="-122"/>
                <a:cs typeface="Calibri" pitchFamily="34" charset="-120"/>
              </a:rPr>
              <a:t>The risen Christ shows Thomas his hands and side. Easter does not erase suffering; it transforms it. Our scars are not erased -- they are held differently.</a:t>
            </a:r>
            <a:endParaRPr lang="en-US" sz="1200" dirty="0"/>
          </a:p>
        </p:txBody>
      </p:sp>
      <p:sp>
        <p:nvSpPr>
          <p:cNvPr id="18" name="Shape 16"/>
          <p:cNvSpPr/>
          <p:nvPr/>
        </p:nvSpPr>
        <p:spPr>
          <a:xfrm>
            <a:off x="3200400" y="3044952"/>
            <a:ext cx="36576" cy="658368"/>
          </a:xfrm>
          <a:prstGeom prst="rect">
            <a:avLst/>
          </a:prstGeom>
          <a:solidFill>
            <a:srgbClr val="C9963A">
              <a:alpha val="50000"/>
            </a:srgbClr>
          </a:solidFill>
          <a:ln w="12700">
            <a:solidFill>
              <a:srgbClr val="C9963A">
                <a:alpha val="50000"/>
              </a:srgbClr>
            </a:solidFill>
            <a:prstDash val="solid"/>
          </a:ln>
        </p:spPr>
        <p:txBody>
          <a:bodyPr/>
          <a:lstStyle/>
          <a:p>
            <a:endParaRPr lang="en-US"/>
          </a:p>
        </p:txBody>
      </p:sp>
      <p:sp>
        <p:nvSpPr>
          <p:cNvPr id="19" name="Shape 17"/>
          <p:cNvSpPr/>
          <p:nvPr/>
        </p:nvSpPr>
        <p:spPr>
          <a:xfrm>
            <a:off x="365760" y="3931920"/>
            <a:ext cx="8412480" cy="804672"/>
          </a:xfrm>
          <a:prstGeom prst="rect">
            <a:avLst/>
          </a:prstGeom>
          <a:solidFill>
            <a:srgbClr val="4A2870"/>
          </a:solidFill>
          <a:ln w="6350">
            <a:solidFill>
              <a:srgbClr val="6B4399"/>
            </a:solidFill>
            <a:prstDash val="solid"/>
          </a:ln>
        </p:spPr>
        <p:txBody>
          <a:bodyPr/>
          <a:lstStyle/>
          <a:p>
            <a:endParaRPr lang="en-US"/>
          </a:p>
        </p:txBody>
      </p:sp>
      <p:sp>
        <p:nvSpPr>
          <p:cNvPr id="20" name="Shape 18"/>
          <p:cNvSpPr/>
          <p:nvPr/>
        </p:nvSpPr>
        <p:spPr>
          <a:xfrm>
            <a:off x="365760" y="3931920"/>
            <a:ext cx="54864" cy="804672"/>
          </a:xfrm>
          <a:prstGeom prst="rect">
            <a:avLst/>
          </a:prstGeom>
          <a:solidFill>
            <a:srgbClr val="C9963A"/>
          </a:solidFill>
          <a:ln w="12700">
            <a:solidFill>
              <a:srgbClr val="C9963A"/>
            </a:solidFill>
            <a:prstDash val="solid"/>
          </a:ln>
        </p:spPr>
        <p:txBody>
          <a:bodyPr/>
          <a:lstStyle/>
          <a:p>
            <a:endParaRPr lang="en-US"/>
          </a:p>
        </p:txBody>
      </p:sp>
      <p:sp>
        <p:nvSpPr>
          <p:cNvPr id="21" name="Text 19"/>
          <p:cNvSpPr/>
          <p:nvPr/>
        </p:nvSpPr>
        <p:spPr>
          <a:xfrm>
            <a:off x="594360" y="3968496"/>
            <a:ext cx="2560320" cy="320040"/>
          </a:xfrm>
          <a:prstGeom prst="rect">
            <a:avLst/>
          </a:prstGeom>
          <a:noFill/>
          <a:ln/>
        </p:spPr>
        <p:txBody>
          <a:bodyPr wrap="square" lIns="0" tIns="0" rIns="0" bIns="0" rtlCol="0" anchor="ctr"/>
          <a:lstStyle/>
          <a:p>
            <a:pPr marL="0" indent="0" algn="l">
              <a:buNone/>
            </a:pPr>
            <a:r>
              <a:rPr lang="en-US" sz="1300" b="1" dirty="0">
                <a:solidFill>
                  <a:srgbClr val="F0D080"/>
                </a:solidFill>
                <a:latin typeface="Georgia" pitchFamily="34" charset="0"/>
                <a:ea typeface="Georgia" pitchFamily="34" charset="-122"/>
                <a:cs typeface="Georgia" pitchFamily="34" charset="-120"/>
              </a:rPr>
              <a:t>Via Media -- The Episcopal Way</a:t>
            </a:r>
            <a:endParaRPr lang="en-US" sz="1300" dirty="0"/>
          </a:p>
        </p:txBody>
      </p:sp>
      <p:sp>
        <p:nvSpPr>
          <p:cNvPr id="22" name="Text 20"/>
          <p:cNvSpPr/>
          <p:nvPr/>
        </p:nvSpPr>
        <p:spPr>
          <a:xfrm>
            <a:off x="3291840" y="3968496"/>
            <a:ext cx="5303520" cy="731520"/>
          </a:xfrm>
          <a:prstGeom prst="rect">
            <a:avLst/>
          </a:prstGeom>
          <a:noFill/>
          <a:ln/>
        </p:spPr>
        <p:txBody>
          <a:bodyPr wrap="square" rtlCol="0" anchor="ctr"/>
          <a:lstStyle/>
          <a:p>
            <a:pPr marL="0" indent="0" algn="l">
              <a:buNone/>
            </a:pPr>
            <a:r>
              <a:rPr lang="en-US" sz="1200" dirty="0">
                <a:solidFill>
                  <a:srgbClr val="D8C8F0"/>
                </a:solidFill>
                <a:latin typeface="Calibri" pitchFamily="34" charset="0"/>
                <a:ea typeface="Calibri" pitchFamily="34" charset="-122"/>
                <a:cs typeface="Calibri" pitchFamily="34" charset="-120"/>
              </a:rPr>
              <a:t>Holding two truths together without collapsing either is the Anglican inheritance. Grief and hope, cross and resurrection, now and not yet.</a:t>
            </a:r>
            <a:endParaRPr lang="en-US" sz="1200" dirty="0"/>
          </a:p>
        </p:txBody>
      </p:sp>
      <p:sp>
        <p:nvSpPr>
          <p:cNvPr id="23" name="Shape 21"/>
          <p:cNvSpPr/>
          <p:nvPr/>
        </p:nvSpPr>
        <p:spPr>
          <a:xfrm>
            <a:off x="3200400" y="4005072"/>
            <a:ext cx="36576" cy="658368"/>
          </a:xfrm>
          <a:prstGeom prst="rect">
            <a:avLst/>
          </a:prstGeom>
          <a:solidFill>
            <a:srgbClr val="C9963A">
              <a:alpha val="50000"/>
            </a:srgbClr>
          </a:solidFill>
          <a:ln w="12700">
            <a:solidFill>
              <a:srgbClr val="C9963A">
                <a:alpha val="50000"/>
              </a:srgbClr>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7">
    <p:bg>
      <p:bgPr>
        <a:solidFill>
          <a:srgbClr val="3B1F5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963A"/>
          </a:solidFill>
          <a:ln w="12700">
            <a:solidFill>
              <a:srgbClr val="C9963A"/>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C9963A"/>
          </a:solidFill>
          <a:ln w="12700">
            <a:solidFill>
              <a:srgbClr val="C9963A"/>
            </a:solidFill>
            <a:prstDash val="solid"/>
          </a:ln>
        </p:spPr>
        <p:txBody>
          <a:bodyPr/>
          <a:lstStyle/>
          <a:p>
            <a:endParaRPr lang="en-US"/>
          </a:p>
        </p:txBody>
      </p:sp>
      <p:sp>
        <p:nvSpPr>
          <p:cNvPr id="4" name="Shape 2"/>
          <p:cNvSpPr/>
          <p:nvPr/>
        </p:nvSpPr>
        <p:spPr>
          <a:xfrm>
            <a:off x="4407408" y="182880"/>
            <a:ext cx="329184" cy="4754880"/>
          </a:xfrm>
          <a:prstGeom prst="rect">
            <a:avLst/>
          </a:prstGeom>
          <a:solidFill>
            <a:srgbClr val="C9963A">
              <a:alpha val="20000"/>
            </a:srgbClr>
          </a:solidFill>
          <a:ln w="12700">
            <a:solidFill>
              <a:srgbClr val="C9963A">
                <a:alpha val="20000"/>
              </a:srgbClr>
            </a:solidFill>
            <a:prstDash val="solid"/>
          </a:ln>
        </p:spPr>
        <p:txBody>
          <a:bodyPr/>
          <a:lstStyle/>
          <a:p>
            <a:endParaRPr lang="en-US"/>
          </a:p>
        </p:txBody>
      </p:sp>
      <p:sp>
        <p:nvSpPr>
          <p:cNvPr id="5" name="Shape 3"/>
          <p:cNvSpPr/>
          <p:nvPr/>
        </p:nvSpPr>
        <p:spPr>
          <a:xfrm>
            <a:off x="3200400" y="1371600"/>
            <a:ext cx="2743200" cy="329184"/>
          </a:xfrm>
          <a:prstGeom prst="rect">
            <a:avLst/>
          </a:prstGeom>
          <a:solidFill>
            <a:srgbClr val="C9963A">
              <a:alpha val="20000"/>
            </a:srgbClr>
          </a:solidFill>
          <a:ln w="12700">
            <a:solidFill>
              <a:srgbClr val="C9963A">
                <a:alpha val="20000"/>
              </a:srgbClr>
            </a:solidFill>
            <a:prstDash val="solid"/>
          </a:ln>
        </p:spPr>
        <p:txBody>
          <a:bodyPr/>
          <a:lstStyle/>
          <a:p>
            <a:endParaRPr lang="en-US"/>
          </a:p>
        </p:txBody>
      </p:sp>
      <p:sp>
        <p:nvSpPr>
          <p:cNvPr id="6" name="Text 4"/>
          <p:cNvSpPr/>
          <p:nvPr/>
        </p:nvSpPr>
        <p:spPr>
          <a:xfrm>
            <a:off x="457200" y="914400"/>
            <a:ext cx="8229600" cy="594360"/>
          </a:xfrm>
          <a:prstGeom prst="rect">
            <a:avLst/>
          </a:prstGeom>
          <a:noFill/>
          <a:ln/>
        </p:spPr>
        <p:txBody>
          <a:bodyPr wrap="square"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Go in Peace --</a:t>
            </a:r>
            <a:endParaRPr lang="en-US" sz="3800" dirty="0"/>
          </a:p>
        </p:txBody>
      </p:sp>
      <p:sp>
        <p:nvSpPr>
          <p:cNvPr id="7" name="Text 5"/>
          <p:cNvSpPr/>
          <p:nvPr/>
        </p:nvSpPr>
        <p:spPr>
          <a:xfrm>
            <a:off x="457200" y="1554480"/>
            <a:ext cx="8229600" cy="594360"/>
          </a:xfrm>
          <a:prstGeom prst="rect">
            <a:avLst/>
          </a:prstGeom>
          <a:noFill/>
          <a:ln/>
        </p:spPr>
        <p:txBody>
          <a:bodyPr wrap="square" rtlCol="0" anchor="ctr"/>
          <a:lstStyle/>
          <a:p>
            <a:pPr marL="0" indent="0" algn="ctr">
              <a:buNone/>
            </a:pPr>
            <a:r>
              <a:rPr lang="en-US" sz="3800" i="1" dirty="0">
                <a:solidFill>
                  <a:srgbClr val="F0D080"/>
                </a:solidFill>
                <a:latin typeface="Georgia" pitchFamily="34" charset="0"/>
                <a:ea typeface="Georgia" pitchFamily="34" charset="-122"/>
                <a:cs typeface="Georgia" pitchFamily="34" charset="-120"/>
              </a:rPr>
              <a:t>and carry both.</a:t>
            </a:r>
            <a:endParaRPr lang="en-US" sz="3800" dirty="0"/>
          </a:p>
        </p:txBody>
      </p:sp>
      <p:sp>
        <p:nvSpPr>
          <p:cNvPr id="8" name="Shape 6"/>
          <p:cNvSpPr/>
          <p:nvPr/>
        </p:nvSpPr>
        <p:spPr>
          <a:xfrm>
            <a:off x="3200400" y="2331720"/>
            <a:ext cx="2743200" cy="45720"/>
          </a:xfrm>
          <a:prstGeom prst="rect">
            <a:avLst/>
          </a:prstGeom>
          <a:solidFill>
            <a:srgbClr val="C9963A"/>
          </a:solidFill>
          <a:ln w="12700">
            <a:solidFill>
              <a:srgbClr val="C9963A"/>
            </a:solidFill>
            <a:prstDash val="solid"/>
          </a:ln>
        </p:spPr>
        <p:txBody>
          <a:bodyPr/>
          <a:lstStyle/>
          <a:p>
            <a:endParaRPr lang="en-US"/>
          </a:p>
        </p:txBody>
      </p:sp>
      <p:sp>
        <p:nvSpPr>
          <p:cNvPr id="9" name="Text 7"/>
          <p:cNvSpPr/>
          <p:nvPr/>
        </p:nvSpPr>
        <p:spPr>
          <a:xfrm>
            <a:off x="914400" y="2560320"/>
            <a:ext cx="7315200" cy="1005840"/>
          </a:xfrm>
          <a:prstGeom prst="rect">
            <a:avLst/>
          </a:prstGeom>
          <a:noFill/>
          <a:ln/>
        </p:spPr>
        <p:txBody>
          <a:bodyPr wrap="square" rtlCol="0" anchor="ctr"/>
          <a:lstStyle/>
          <a:p>
            <a:pPr marL="0" indent="0" algn="ctr">
              <a:buNone/>
            </a:pPr>
            <a:r>
              <a:rPr lang="en-US" sz="2000" i="1" dirty="0">
                <a:solidFill>
                  <a:srgbClr val="C9A8E0"/>
                </a:solidFill>
                <a:latin typeface="Georgia" pitchFamily="34" charset="0"/>
                <a:ea typeface="Georgia" pitchFamily="34" charset="-122"/>
                <a:cs typeface="Georgia" pitchFamily="34" charset="-120"/>
              </a:rPr>
              <a:t>The light doesn't vanish.</a:t>
            </a:r>
            <a:endParaRPr lang="en-US" sz="2000" dirty="0"/>
          </a:p>
          <a:p>
            <a:pPr marL="0" indent="0" algn="ctr">
              <a:buNone/>
            </a:pPr>
            <a:r>
              <a:rPr lang="en-US" sz="2000" i="1" dirty="0">
                <a:solidFill>
                  <a:srgbClr val="C9A8E0"/>
                </a:solidFill>
                <a:latin typeface="Georgia" pitchFamily="34" charset="0"/>
                <a:ea typeface="Georgia" pitchFamily="34" charset="-122"/>
                <a:cs typeface="Georgia" pitchFamily="34" charset="-120"/>
              </a:rPr>
              <a:t>It waits.</a:t>
            </a:r>
            <a:endParaRPr lang="en-US" sz="2000" dirty="0"/>
          </a:p>
        </p:txBody>
      </p:sp>
      <p:sp>
        <p:nvSpPr>
          <p:cNvPr id="10" name="Text 8"/>
          <p:cNvSpPr/>
          <p:nvPr/>
        </p:nvSpPr>
        <p:spPr>
          <a:xfrm>
            <a:off x="914400" y="3749040"/>
            <a:ext cx="7315200" cy="365760"/>
          </a:xfrm>
          <a:prstGeom prst="rect">
            <a:avLst/>
          </a:prstGeom>
          <a:noFill/>
          <a:ln/>
        </p:spPr>
        <p:txBody>
          <a:bodyPr wrap="square" rtlCol="0" anchor="ctr"/>
          <a:lstStyle/>
          <a:p>
            <a:pPr marL="0" indent="0" algn="ctr">
              <a:buNone/>
            </a:pPr>
            <a:r>
              <a:rPr lang="en-US" sz="1300" dirty="0">
                <a:solidFill>
                  <a:srgbClr val="9B7DB8"/>
                </a:solidFill>
                <a:latin typeface="Calibri" pitchFamily="34" charset="0"/>
                <a:ea typeface="Calibri" pitchFamily="34" charset="-122"/>
                <a:cs typeface="Calibri" pitchFamily="34" charset="-120"/>
              </a:rPr>
              <a:t>John 11 · Romans 8 · Revelation 21:4</a:t>
            </a:r>
            <a:endParaRPr lang="en-US" sz="1300" dirty="0"/>
          </a:p>
        </p:txBody>
      </p:sp>
      <p:sp>
        <p:nvSpPr>
          <p:cNvPr id="11" name="Text 9"/>
          <p:cNvSpPr/>
          <p:nvPr/>
        </p:nvSpPr>
        <p:spPr>
          <a:xfrm>
            <a:off x="914400" y="4251960"/>
            <a:ext cx="7315200" cy="502920"/>
          </a:xfrm>
          <a:prstGeom prst="rect">
            <a:avLst/>
          </a:prstGeom>
          <a:noFill/>
          <a:ln/>
        </p:spPr>
        <p:txBody>
          <a:bodyPr wrap="square" rtlCol="0" anchor="ctr"/>
          <a:lstStyle/>
          <a:p>
            <a:pPr marL="0" indent="0" algn="ctr">
              <a:buNone/>
            </a:pPr>
            <a:r>
              <a:rPr lang="en-US" sz="1600" b="1" dirty="0">
                <a:solidFill>
                  <a:srgbClr val="C9963A"/>
                </a:solidFill>
                <a:latin typeface="Georgia" pitchFamily="34" charset="0"/>
                <a:ea typeface="Georgia" pitchFamily="34" charset="-122"/>
                <a:cs typeface="Georgia" pitchFamily="34" charset="-120"/>
              </a:rPr>
              <a:t>Thanks be to God.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1381</Words>
  <Application>Microsoft Office PowerPoint</Application>
  <PresentationFormat>On-screen Show (16:9)</PresentationFormat>
  <Paragraphs>66</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Easter People in a Good Friday World</dc:title>
  <dc:subject>PptxGenJS Presentation</dc:subject>
  <dc:creator>PptxGenJS</dc:creator>
  <cp:lastModifiedBy>Stephen Williamson</cp:lastModifiedBy>
  <cp:revision>4</cp:revision>
  <dcterms:created xsi:type="dcterms:W3CDTF">2026-02-22T03:18:13Z</dcterms:created>
  <dcterms:modified xsi:type="dcterms:W3CDTF">2026-03-08T14:17:14Z</dcterms:modified>
</cp:coreProperties>
</file>