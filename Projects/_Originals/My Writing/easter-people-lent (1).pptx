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Title Slide
Display this slide as participants arrive. You don't need to say much -- let the theme land visually first.
When ready to begin, you might open simply: 'This Lent, we're spending time with a paradox that sits at the center of Christian life: we know how the story ends, and yet we live inside it before the ending arrives. That's what we mean by Easter people in a Good Friday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The Central Paradox (intro framing)
This slide sets the intellectual and spiritual stakes. Take your time here -- don't rush to the agenda.
Key emphasis: Easter people are NOT people who have bypassed grief or who perform cheerfulness. They are people who carry resurrection hope THROUGH the darkness. The distinction matters enormously to people who are suffering.
You might ask: 'Have you ever been in a season that felt like Good Friday even though you knew, theologically, that Easter was real? That's the tension we're exploring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Session Overview
Briefly walk through the five segments. Participants benefit from knowing the shape of the hour before entering it.
You might say: 'We'll move from centering, into some teaching, then into small groups, and close with a practice you can carry through all of Lent. There's no pressure to arrive at any particular place -- the point is honest engagement.'
Keep this slide brief. 60 seconds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Welcome &amp; Centering (0-10 min)
Open with a brief collect from the Lenten liturgy or a prayer of your own. Keep it under a minute.
For the naming exercise: go around the room once. Each person names ONE thing -- in their life or the world -- that feels like Good Friday right now. Model the brevity yourself by going first with something genuine but short. Do not comment, affirm, or respond to what anyone shares. Simply receive it. The silence between names is part of the practice.
Transition phrase: 'We've named what is. Now let's spend some time understanding why the church asks us to hold both -- the grief and the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Three Movements Overview (10-30 min)
This slide introduces the structure of your 20-minute teaching. You don't need to say everything on the slide -- let it serve as an anchor while you speak.
CRITICAL PACING NOTE: The temptation is to rush through Movement I (Good Friday) to get to the hope of Movements II and III. Resist it. Spend at least 7-8 minutes on Good Friday alone. If you move too quickly to resurrection, participants will feel the session doesn't take suffering seriously.
You can introduce the three movements by saying: 'We're going to move through three phases -- and the sequence matters. Honesty first. Hope second. Tension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Key Theological Anchors
This slide supports the deeper teaching portion. You can stay here for several minutes or use it as a reference while speaking freely.
On LAMENT: Many Episcopalians have been formed in traditions that skip lament. It is worth naming explicitly that the Prayer Book includes the Office of the Dead, the Great Litany, and Ash Wednesday precisely because the church takes suffering seriously. Psalm 22 is not a failure of faith -- it is the prayer Jesus himself prayed from the cross.
On HOPE: The distinction between Christian hope and secular optimism is crucial. Paul's phrase 'hope that is not yet seen' (Romans 8:24) implies that hope is not the same as certainty or even confidence -- it is a theological posture in the face of the not-yet.
On WOUNDS: Thomas's story (John 20) is worth mentioning: resurrection does not mean the wounds disappear. The risen Christ is still scarred. This is theologically significant for anyone carrying grief into Easter.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Small Group Discussion (30-48 min)
Before breaking into groups, read all four questions aloud slowly. Then instruct groups to choose ONE question and stay with it for the full 18 minutes rather than skimming all four.
Circulate quietly during this time. If a group finishes early, prompt them deeper: 'What would it look like to actually live that way this week?' or 'What makes that hard?'
Question 1 works well for groups where people are currently in difficulty. Question 2 is strong for theologically curious groups. Question 3 suits Episcopalians who appreciate the Anglican tradition explicitly. Question 4 is good for groups that respond well to biography and example.
As facilitator, note 2-3 threads you hear across groups -- you'll weave them together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Large Group Sharing (48-55 min)
Invite one insight or moment from each small group. Your job here is to listen actively and synthesize -- not to add new content.
As each group shares, listen for: recurring images or metaphors, places where grief and hope appeared together, surprising connections to Scripture or liturgy, moments of honesty that felt costly.
Weave a 2-3 sentence synthesis at the end. You might land on something like: 'What I'm hearing across the room is that we know, theologically, how to say the right things about Easter -- but that the real work of Lent is becoming people who actually mean it. That's what we're practicing.'
Avoid filling silence. If a group has little to share, that's fine -- nod and move on without commentary.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The Daily Examen (55-60 min)
Present both questions clearly and slowly. Consider reading them aloud twice.
Explain: 'This is a practice drawn from the Ignatian tradition and adapted for our Lenten theme. Each evening -- ideally at the same time -- you sit quietly and ask yourself both questions. Not to solve anything. Just to notice.'
You may want to print these questions on a small card for participants to take home. If you have printed handouts prepared, distribute them now.
Close with a brief prayer, then invite 30 seconds of silence before the dismissal. This transition from noise to quiet -- even briefly -- enacts what the examen itself asks of us.
Suggested closing prayer: 'Lord, teach us to hold both -- the grief that is real and the hope that is also real. Guide us through this Lenten season as Easter people who do not look away.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Scripture Section
Use these slides when your group is too small to break into small groups, or if you prefer to do a close reading of the texts together.
Suggested approach: Read each passage aloud (taking turns by verse or paragraph), then pause for 2-3 minutes of silent reflection before asking the discussion questions. This approach often generates deeper engagement than cold small-group discussion.
These four readings span the session's three movements: Psalm 22 = Good Friday; Romans 8 = the tension of hope; John 11 = the Lazarus story (holding both); Revelation 21 = the Easter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Psalm 22 (Part 1: Lament)
Read verses 1-2 aloud yourself first -- slowly, with feeling. These are the words Jesus prayed from the cross (Matthew 27:46). Let that land before you continue.
Discussion prompt after this slide: 'What does it mean that God-in-the-flesh chose these particular words at that moment? What does it say about how God relates to human suffering?'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Psalm 22 (Part 2: The Turn)
Verse 22 marks one of the most dramatic turns in all of Scripture -- from utter desolation to praise -- without any narrative explanation of what changed. The psalmist simply turns.
Discussion prompt: 'The psalm moves from 'My God, why have you forsaken me?' to 'I will praise you' -- with no explanation of what changed in between. What do you make of that? Is it denial, faith, or something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Romans 8:18-25
The key verse for the session's central theme is verse 24: 'hope that is seen is not hope.' This is Paul's definition of Christian hope -- it is oriented toward what is not yet visible, not yet resolved, not yet arrived.
Note also the word 'groaning' (vv. 22-23). Paul does not minimize suffering; he names it as the condition of the whole creation. Easter people groan too. That is not a failure of faith.
Discussion prompt: 'Paul says we 'wait with patience' for what we cannot yet see. What does that kind of patience look like in practice, in the middle of your own Good Friday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John 11:32-44 (Part 1)
The two shortest sentences in this passage carry enormous theological weight: 'Jesus began to weep' (v. 35) and 'See how he loved him!' (v. 36).
Jesus weeps here even though he knows what he is about to do. This is not ignorance or despair. It is compassion -- entering fully into the grief of those he loves before acting.
Discussion prompt after this slide: 'Jesus already knows he is going to raise Lazarus. So why does he weep? What does that tell us about how God is present with us in our own grief?'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John 11:38-44 (Part 2)
'Unbind him, and let him go' (v. 44) is one of the great lines of the Gospel. Resurrection is not just about being raised -- it is about being set free from the grave clothes, the old constraints, the things that bound us even in death.
Discussion prompt: 'What grave clothes do you most need to have unbound this Lent? What has bound you -- grief, fear, habit, shame -- that resurrection might begin to loosen?'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Revelation 21:1-5
This is the Easter horizon. The entire session has been building toward this vision -- not as a denial of Good Friday, but as the destination that gives Good Friday its meaning.
Verse 4 is the pivot: 'He will wipe every tear from their eyes.' This is not a statement that tears don't matter. It is a statement that God's response to every tear is personal, tender, and certain.
Verse 5 is the closing word for Easter people: 'See, I am making all things new.' Not 'made.' Not 'will someday make.' The present tense is intentional -- renewal is already underway, even in the middle of what feels like Good Friday.
Discussion prompt: 'What would it look like to live this week as if this promise were already in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Closing Slide
This slide is the dismissal. Display it as you offer your final words.
You might close by saying: 'We leave today as Easter people -- not because everything is resolved, but because we've practiced being honest about what isn't, and trusting anyway. Carry both with you this Lent.'
Offer the traditional dismissal if appropriate to your parish context: 'Let us go forth in the name of Christ.' // 'Thanks be to God.'
Remember: Participants who shared something vulnerable in the opening naming exercise may need a moment to decompress. Be available after the session. Don't rush the room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1F5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963A"/>
          </a:solidFill>
          <a:ln w="12700">
            <a:solidFill>
              <a:srgbClr val="C9963A"/>
            </a:solidFill>
            <a:prstDash val="solid"/>
          </a:ln>
        </p:spPr>
      </p:sp>
      <p:sp>
        <p:nvSpPr>
          <p:cNvPr id="3" name="Shape 1"/>
          <p:cNvSpPr/>
          <p:nvPr/>
        </p:nvSpPr>
        <p:spPr>
          <a:xfrm>
            <a:off x="0" y="5070348"/>
            <a:ext cx="9144000" cy="73152"/>
          </a:xfrm>
          <a:prstGeom prst="rect">
            <a:avLst/>
          </a:prstGeom>
          <a:solidFill>
            <a:srgbClr val="C9963A"/>
          </a:solidFill>
          <a:ln w="12700">
            <a:solidFill>
              <a:srgbClr val="C9963A"/>
            </a:solidFill>
            <a:prstDash val="solid"/>
          </a:ln>
        </p:spPr>
      </p:sp>
      <p:sp>
        <p:nvSpPr>
          <p:cNvPr id="4" name="Shape 2"/>
          <p:cNvSpPr/>
          <p:nvPr/>
        </p:nvSpPr>
        <p:spPr>
          <a:xfrm>
            <a:off x="4407408" y="457200"/>
            <a:ext cx="329184" cy="4206240"/>
          </a:xfrm>
          <a:prstGeom prst="rect">
            <a:avLst/>
          </a:prstGeom>
          <a:solidFill>
            <a:srgbClr val="C9963A">
              <a:alpha val="25000"/>
            </a:srgbClr>
          </a:solidFill>
          <a:ln w="12700">
            <a:solidFill>
              <a:srgbClr val="C9963A">
                <a:alpha val="25000"/>
              </a:srgbClr>
            </a:solidFill>
            <a:prstDash val="solid"/>
          </a:ln>
        </p:spPr>
      </p:sp>
      <p:sp>
        <p:nvSpPr>
          <p:cNvPr id="5" name="Shape 3"/>
          <p:cNvSpPr/>
          <p:nvPr/>
        </p:nvSpPr>
        <p:spPr>
          <a:xfrm>
            <a:off x="3200400" y="1371600"/>
            <a:ext cx="2743200" cy="329184"/>
          </a:xfrm>
          <a:prstGeom prst="rect">
            <a:avLst/>
          </a:prstGeom>
          <a:solidFill>
            <a:srgbClr val="C9963A">
              <a:alpha val="25000"/>
            </a:srgbClr>
          </a:solidFill>
          <a:ln w="12700">
            <a:solidFill>
              <a:srgbClr val="C9963A">
                <a:alpha val="25000"/>
              </a:srgbClr>
            </a:solidFill>
            <a:prstDash val="solid"/>
          </a:ln>
        </p:spPr>
      </p:sp>
      <p:sp>
        <p:nvSpPr>
          <p:cNvPr id="6" name="Text 4"/>
          <p:cNvSpPr/>
          <p:nvPr/>
        </p:nvSpPr>
        <p:spPr>
          <a:xfrm>
            <a:off x="457200" y="914400"/>
            <a:ext cx="8229600" cy="2194560"/>
          </a:xfrm>
          <a:prstGeom prst="rect">
            <a:avLst/>
          </a:prstGeom>
          <a:noFill/>
          <a:ln/>
          <a:effectLst>
            <a:outerShdw sx="100000" sy="100000" kx="0" ky="0" algn="bl" rotWithShape="0" blurRad="101600" dist="38100" dir="8100000">
              <a:srgbClr val="000000">
                <a:alpha val="18000"/>
              </a:srgbClr>
            </a:outerShdw>
          </a:effectLst>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Easter People in a</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Good Friday World</a:t>
            </a:r>
            <a:endParaRPr lang="en-US" sz="4400" dirty="0"/>
          </a:p>
        </p:txBody>
      </p:sp>
      <p:sp>
        <p:nvSpPr>
          <p:cNvPr id="7" name="Shape 5"/>
          <p:cNvSpPr/>
          <p:nvPr/>
        </p:nvSpPr>
        <p:spPr>
          <a:xfrm>
            <a:off x="3200400" y="3154680"/>
            <a:ext cx="2743200" cy="45720"/>
          </a:xfrm>
          <a:prstGeom prst="rect">
            <a:avLst/>
          </a:prstGeom>
          <a:solidFill>
            <a:srgbClr val="F0D080"/>
          </a:solidFill>
          <a:ln w="12700">
            <a:solidFill>
              <a:srgbClr val="F0D080"/>
            </a:solidFill>
            <a:prstDash val="solid"/>
          </a:ln>
        </p:spPr>
      </p:sp>
      <p:sp>
        <p:nvSpPr>
          <p:cNvPr id="8" name="Text 6"/>
          <p:cNvSpPr/>
          <p:nvPr/>
        </p:nvSpPr>
        <p:spPr>
          <a:xfrm>
            <a:off x="457200" y="3291840"/>
            <a:ext cx="8229600" cy="457200"/>
          </a:xfrm>
          <a:prstGeom prst="rect">
            <a:avLst/>
          </a:prstGeom>
          <a:noFill/>
          <a:ln/>
        </p:spPr>
        <p:txBody>
          <a:bodyPr wrap="square" rtlCol="0" anchor="ctr"/>
          <a:lstStyle/>
          <a:p>
            <a:pPr algn="ctr" indent="0" marL="0">
              <a:buNone/>
            </a:pPr>
            <a:r>
              <a:rPr lang="en-US" sz="1800" i="1" dirty="0">
                <a:solidFill>
                  <a:srgbClr val="F0D080"/>
                </a:solidFill>
                <a:latin typeface="Calibri" pitchFamily="34" charset="0"/>
                <a:ea typeface="Calibri" pitchFamily="34" charset="-122"/>
                <a:cs typeface="Calibri" pitchFamily="34" charset="-120"/>
              </a:rPr>
              <a:t>A Lenten Kickoff · Sunday School</a:t>
            </a:r>
            <a:endParaRPr lang="en-US" sz="1800" dirty="0"/>
          </a:p>
        </p:txBody>
      </p:sp>
      <p:sp>
        <p:nvSpPr>
          <p:cNvPr id="9" name="Text 7"/>
          <p:cNvSpPr/>
          <p:nvPr/>
        </p:nvSpPr>
        <p:spPr>
          <a:xfrm>
            <a:off x="457200" y="3840480"/>
            <a:ext cx="8229600" cy="365760"/>
          </a:xfrm>
          <a:prstGeom prst="rect">
            <a:avLst/>
          </a:prstGeom>
          <a:noFill/>
          <a:ln/>
        </p:spPr>
        <p:txBody>
          <a:bodyPr wrap="square" rtlCol="0" anchor="ctr"/>
          <a:lstStyle/>
          <a:p>
            <a:pPr algn="ctr" indent="0" marL="0">
              <a:buNone/>
            </a:pPr>
            <a:r>
              <a:rPr lang="en-US" sz="1300" dirty="0">
                <a:solidFill>
                  <a:srgbClr val="C9A8E0"/>
                </a:solidFill>
                <a:latin typeface="Calibri" pitchFamily="34" charset="0"/>
                <a:ea typeface="Calibri" pitchFamily="34" charset="-122"/>
                <a:cs typeface="Calibri" pitchFamily="34" charset="-120"/>
              </a:rPr>
              <a:t>John 11 · Romans 8 · Revelation 21</a:t>
            </a:r>
            <a:endParaRPr lang="en-US" sz="1300" dirty="0"/>
          </a:p>
        </p:txBody>
      </p:sp>
      <p:sp>
        <p:nvSpPr>
          <p:cNvPr id="10" name="Text 8"/>
          <p:cNvSpPr/>
          <p:nvPr/>
        </p:nvSpPr>
        <p:spPr>
          <a:xfrm>
            <a:off x="457200" y="4572000"/>
            <a:ext cx="8229600" cy="274320"/>
          </a:xfrm>
          <a:prstGeom prst="rect">
            <a:avLst/>
          </a:prstGeom>
          <a:noFill/>
          <a:ln/>
        </p:spPr>
        <p:txBody>
          <a:bodyPr wrap="square" rtlCol="0" anchor="ctr"/>
          <a:lstStyle/>
          <a:p>
            <a:pPr algn="ctr" indent="0" marL="0">
              <a:buNone/>
            </a:pPr>
            <a:r>
              <a:rPr lang="en-US" sz="1100" dirty="0">
                <a:solidFill>
                  <a:srgbClr val="9B7DB8"/>
                </a:solidFill>
                <a:latin typeface="Calibri" pitchFamily="34" charset="0"/>
                <a:ea typeface="Calibri" pitchFamily="34" charset="-122"/>
                <a:cs typeface="Calibri" pitchFamily="34" charset="-120"/>
              </a:rPr>
              <a:t>60-Minute Session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3B1F5E"/>
          </a:solidFill>
          <a:ln w="12700">
            <a:solidFill>
              <a:srgbClr val="3B1F5E"/>
            </a:solidFill>
            <a:prstDash val="solid"/>
          </a:ln>
        </p:spPr>
      </p:sp>
      <p:sp>
        <p:nvSpPr>
          <p:cNvPr id="3" name="Shape 1"/>
          <p:cNvSpPr/>
          <p:nvPr/>
        </p:nvSpPr>
        <p:spPr>
          <a:xfrm>
            <a:off x="3474720" y="0"/>
            <a:ext cx="54864" cy="5143500"/>
          </a:xfrm>
          <a:prstGeom prst="rect">
            <a:avLst/>
          </a:prstGeom>
          <a:solidFill>
            <a:srgbClr val="C9963A"/>
          </a:solidFill>
          <a:ln w="12700">
            <a:solidFill>
              <a:srgbClr val="C9963A"/>
            </a:solidFill>
            <a:prstDash val="solid"/>
          </a:ln>
        </p:spPr>
      </p:sp>
      <p:sp>
        <p:nvSpPr>
          <p:cNvPr id="4" name="Text 2"/>
          <p:cNvSpPr/>
          <p:nvPr/>
        </p:nvSpPr>
        <p:spPr>
          <a:xfrm>
            <a:off x="182880" y="1645920"/>
            <a:ext cx="3017520" cy="228600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THE</a:t>
            </a:r>
            <a:endParaRPr lang="en-US" sz="2800" dirty="0"/>
          </a:p>
          <a:p>
            <a:pPr algn="ctr" indent="0" marL="0">
              <a:buNone/>
            </a:pPr>
            <a:r>
              <a:rPr lang="en-US" sz="2800" b="1" dirty="0">
                <a:solidFill>
                  <a:srgbClr val="FFFFFF"/>
                </a:solidFill>
                <a:latin typeface="Georgia" pitchFamily="34" charset="0"/>
                <a:ea typeface="Georgia" pitchFamily="34" charset="-122"/>
                <a:cs typeface="Georgia" pitchFamily="34" charset="-120"/>
              </a:rPr>
              <a:t>CENTRAL</a:t>
            </a:r>
            <a:endParaRPr lang="en-US" sz="2800" dirty="0"/>
          </a:p>
          <a:p>
            <a:pPr algn="ctr" indent="0" marL="0">
              <a:buNone/>
            </a:pPr>
            <a:r>
              <a:rPr lang="en-US" sz="2800" b="1" dirty="0">
                <a:solidFill>
                  <a:srgbClr val="FFFFFF"/>
                </a:solidFill>
                <a:latin typeface="Georgia" pitchFamily="34" charset="0"/>
                <a:ea typeface="Georgia" pitchFamily="34" charset="-122"/>
                <a:cs typeface="Georgia" pitchFamily="34" charset="-120"/>
              </a:rPr>
              <a:t>PARADOX</a:t>
            </a:r>
            <a:endParaRPr lang="en-US" sz="2800" dirty="0"/>
          </a:p>
        </p:txBody>
      </p:sp>
      <p:sp>
        <p:nvSpPr>
          <p:cNvPr id="5" name="Shape 3"/>
          <p:cNvSpPr/>
          <p:nvPr/>
        </p:nvSpPr>
        <p:spPr>
          <a:xfrm>
            <a:off x="1234440" y="4114800"/>
            <a:ext cx="1005840" cy="1005840"/>
          </a:xfrm>
          <a:prstGeom prst="ellipse">
            <a:avLst/>
          </a:prstGeom>
          <a:solidFill>
            <a:srgbClr val="C9963A">
              <a:alpha val="40000"/>
            </a:srgbClr>
          </a:solidFill>
          <a:ln w="12700">
            <a:solidFill>
              <a:srgbClr val="C9963A"/>
            </a:solidFill>
            <a:prstDash val="solid"/>
          </a:ln>
        </p:spPr>
      </p:sp>
      <p:sp>
        <p:nvSpPr>
          <p:cNvPr id="6" name="Text 4"/>
          <p:cNvSpPr/>
          <p:nvPr/>
        </p:nvSpPr>
        <p:spPr>
          <a:xfrm>
            <a:off x="3840480" y="457200"/>
            <a:ext cx="5029200" cy="365760"/>
          </a:xfrm>
          <a:prstGeom prst="rect">
            <a:avLst/>
          </a:prstGeom>
          <a:noFill/>
          <a:ln/>
        </p:spPr>
        <p:txBody>
          <a:bodyPr wrap="square" rtlCol="0" anchor="ctr"/>
          <a:lstStyle/>
          <a:p>
            <a:pPr algn="l" indent="0" marL="0">
              <a:buNone/>
            </a:pPr>
            <a:r>
              <a:rPr lang="en-US" sz="1300" i="1" dirty="0">
                <a:solidFill>
                  <a:srgbClr val="6B4F8A"/>
                </a:solidFill>
                <a:latin typeface="Calibri" pitchFamily="34" charset="0"/>
                <a:ea typeface="Calibri" pitchFamily="34" charset="-122"/>
                <a:cs typeface="Calibri" pitchFamily="34" charset="-120"/>
              </a:rPr>
              <a:t>A Guiding Question for Lent</a:t>
            </a:r>
            <a:endParaRPr lang="en-US" sz="1300" dirty="0"/>
          </a:p>
        </p:txBody>
      </p:sp>
      <p:sp>
        <p:nvSpPr>
          <p:cNvPr id="7" name="Text 5"/>
          <p:cNvSpPr/>
          <p:nvPr/>
        </p:nvSpPr>
        <p:spPr>
          <a:xfrm>
            <a:off x="3840480" y="1005840"/>
            <a:ext cx="5029200" cy="548640"/>
          </a:xfrm>
          <a:prstGeom prst="rect">
            <a:avLst/>
          </a:prstGeom>
          <a:noFill/>
          <a:ln/>
        </p:spPr>
        <p:txBody>
          <a:bodyPr wrap="square" rtlCol="0" anchor="ctr"/>
          <a:lstStyle/>
          <a:p>
            <a:pPr algn="l" indent="0" marL="0">
              <a:buNone/>
            </a:pPr>
            <a:r>
              <a:rPr lang="en-US" sz="2200" b="1" dirty="0">
                <a:solidFill>
                  <a:srgbClr val="231340"/>
                </a:solidFill>
                <a:latin typeface="Georgia" pitchFamily="34" charset="0"/>
                <a:ea typeface="Georgia" pitchFamily="34" charset="-122"/>
                <a:cs typeface="Georgia" pitchFamily="34" charset="-120"/>
              </a:rPr>
              <a:t>We know how the story ends.</a:t>
            </a:r>
            <a:endParaRPr lang="en-US" sz="2200" dirty="0"/>
          </a:p>
        </p:txBody>
      </p:sp>
      <p:sp>
        <p:nvSpPr>
          <p:cNvPr id="8" name="Text 6"/>
          <p:cNvSpPr/>
          <p:nvPr/>
        </p:nvSpPr>
        <p:spPr>
          <a:xfrm>
            <a:off x="3840480" y="1645920"/>
            <a:ext cx="5029200" cy="731520"/>
          </a:xfrm>
          <a:prstGeom prst="rect">
            <a:avLst/>
          </a:prstGeom>
          <a:noFill/>
          <a:ln/>
        </p:spPr>
        <p:txBody>
          <a:bodyPr wrap="square" rtlCol="0" anchor="ctr"/>
          <a:lstStyle/>
          <a:p>
            <a:pPr algn="l" indent="0" marL="0">
              <a:buNone/>
            </a:pPr>
            <a:r>
              <a:rPr lang="en-US" sz="2000" i="1" dirty="0">
                <a:solidFill>
                  <a:srgbClr val="5C3484"/>
                </a:solidFill>
                <a:latin typeface="Georgia" pitchFamily="34" charset="0"/>
                <a:ea typeface="Georgia" pitchFamily="34" charset="-122"/>
                <a:cs typeface="Georgia" pitchFamily="34" charset="-120"/>
              </a:rPr>
              <a:t>So why does the world still feel like Good Friday?</a:t>
            </a:r>
            <a:endParaRPr lang="en-US" sz="2000" dirty="0"/>
          </a:p>
        </p:txBody>
      </p:sp>
      <p:sp>
        <p:nvSpPr>
          <p:cNvPr id="9" name="Shape 7"/>
          <p:cNvSpPr/>
          <p:nvPr/>
        </p:nvSpPr>
        <p:spPr>
          <a:xfrm>
            <a:off x="3840480" y="2468880"/>
            <a:ext cx="4572000" cy="36576"/>
          </a:xfrm>
          <a:prstGeom prst="rect">
            <a:avLst/>
          </a:prstGeom>
          <a:solidFill>
            <a:srgbClr val="C9963A"/>
          </a:solidFill>
          <a:ln w="12700">
            <a:solidFill>
              <a:srgbClr val="C9963A"/>
            </a:solidFill>
            <a:prstDash val="solid"/>
          </a:ln>
        </p:spPr>
      </p:sp>
      <p:sp>
        <p:nvSpPr>
          <p:cNvPr id="10" name="Text 8"/>
          <p:cNvSpPr/>
          <p:nvPr/>
        </p:nvSpPr>
        <p:spPr>
          <a:xfrm>
            <a:off x="3840480" y="2651760"/>
            <a:ext cx="5029200" cy="1645920"/>
          </a:xfrm>
          <a:prstGeom prst="rect">
            <a:avLst/>
          </a:prstGeom>
          <a:noFill/>
          <a:ln/>
        </p:spPr>
        <p:txBody>
          <a:bodyPr wrap="square" rtlCol="0" anchor="t"/>
          <a:lstStyle/>
          <a:p>
            <a:pPr algn="l" indent="0" marL="0">
              <a:buNone/>
            </a:pPr>
            <a:r>
              <a:rPr lang="en-US" sz="1500" dirty="0">
                <a:solidFill>
                  <a:srgbClr val="231340"/>
                </a:solidFill>
                <a:latin typeface="Calibri" pitchFamily="34" charset="0"/>
                <a:ea typeface="Calibri" pitchFamily="34" charset="-122"/>
                <a:cs typeface="Calibri" pitchFamily="34" charset="-120"/>
              </a:rPr>
              <a:t>Easter people aren't people who pretend Good Friday didn't happen -- they're people who carry resurrection hope through the darkness rather than around it.</a:t>
            </a:r>
            <a:endParaRPr lang="en-US" sz="1500" dirty="0"/>
          </a:p>
        </p:txBody>
      </p:sp>
      <p:sp>
        <p:nvSpPr>
          <p:cNvPr id="11" name="Text 9"/>
          <p:cNvSpPr/>
          <p:nvPr/>
        </p:nvSpPr>
        <p:spPr>
          <a:xfrm>
            <a:off x="3840480" y="4343400"/>
            <a:ext cx="5029200" cy="457200"/>
          </a:xfrm>
          <a:prstGeom prst="rect">
            <a:avLst/>
          </a:prstGeom>
          <a:noFill/>
          <a:ln/>
        </p:spPr>
        <p:txBody>
          <a:bodyPr wrap="square" rtlCol="0" anchor="ctr"/>
          <a:lstStyle/>
          <a:p>
            <a:pPr algn="l" indent="0" marL="0">
              <a:buNone/>
            </a:pPr>
            <a:r>
              <a:rPr lang="en-US" sz="1300" b="1" i="1" dirty="0">
                <a:solidFill>
                  <a:srgbClr val="C9963A"/>
                </a:solidFill>
                <a:latin typeface="Calibri" pitchFamily="34" charset="0"/>
                <a:ea typeface="Calibri" pitchFamily="34" charset="-122"/>
                <a:cs typeface="Calibri" pitchFamily="34" charset="-120"/>
              </a:rPr>
              <a:t>Lent is our annual practice of honest attention.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B1F5E"/>
          </a:solidFill>
          <a:ln w="12700">
            <a:solidFill>
              <a:srgbClr val="3B1F5E"/>
            </a:solidFill>
            <a:prstDash val="solid"/>
          </a:ln>
        </p:spPr>
      </p:sp>
      <p:sp>
        <p:nvSpPr>
          <p:cNvPr id="3" name="Text 1"/>
          <p:cNvSpPr/>
          <p:nvPr/>
        </p:nvSpPr>
        <p:spPr>
          <a:xfrm>
            <a:off x="365760" y="0"/>
            <a:ext cx="8412480" cy="822960"/>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Session at a Glance</a:t>
            </a:r>
            <a:endParaRPr lang="en-US" sz="2600" dirty="0"/>
          </a:p>
        </p:txBody>
      </p:sp>
      <p:sp>
        <p:nvSpPr>
          <p:cNvPr id="4" name="Text 2"/>
          <p:cNvSpPr/>
          <p:nvPr/>
        </p:nvSpPr>
        <p:spPr>
          <a:xfrm>
            <a:off x="365760" y="0"/>
            <a:ext cx="8412480" cy="822960"/>
          </a:xfrm>
          <a:prstGeom prst="rect">
            <a:avLst/>
          </a:prstGeom>
          <a:noFill/>
          <a:ln/>
        </p:spPr>
        <p:txBody>
          <a:bodyPr wrap="square" rtlCol="0" anchor="ctr"/>
          <a:lstStyle/>
          <a:p>
            <a:pPr algn="r" indent="0" marL="0">
              <a:buNone/>
            </a:pPr>
            <a:r>
              <a:rPr lang="en-US" sz="1400" dirty="0">
                <a:solidFill>
                  <a:srgbClr val="F0D080"/>
                </a:solidFill>
                <a:latin typeface="Calibri" pitchFamily="34" charset="0"/>
                <a:ea typeface="Calibri" pitchFamily="34" charset="-122"/>
                <a:cs typeface="Calibri" pitchFamily="34" charset="-120"/>
              </a:rPr>
              <a:t>60 min</a:t>
            </a:r>
            <a:endParaRPr lang="en-US" sz="1400" dirty="0"/>
          </a:p>
        </p:txBody>
      </p:sp>
      <p:sp>
        <p:nvSpPr>
          <p:cNvPr id="5" name="Shape 3"/>
          <p:cNvSpPr/>
          <p:nvPr/>
        </p:nvSpPr>
        <p:spPr>
          <a:xfrm>
            <a:off x="320040" y="1005840"/>
            <a:ext cx="8503920" cy="694944"/>
          </a:xfrm>
          <a:prstGeom prst="rect">
            <a:avLst/>
          </a:prstGeom>
          <a:solidFill>
            <a:srgbClr val="FFFFFF"/>
          </a:solidFill>
          <a:ln w="6350">
            <a:solidFill>
              <a:srgbClr val="E0D5F0"/>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20040" y="1005840"/>
            <a:ext cx="64008" cy="694944"/>
          </a:xfrm>
          <a:prstGeom prst="rect">
            <a:avLst/>
          </a:prstGeom>
          <a:solidFill>
            <a:srgbClr val="C9963A"/>
          </a:solidFill>
          <a:ln w="12700">
            <a:solidFill>
              <a:srgbClr val="C9963A"/>
            </a:solidFill>
            <a:prstDash val="solid"/>
          </a:ln>
        </p:spPr>
      </p:sp>
      <p:sp>
        <p:nvSpPr>
          <p:cNvPr id="7" name="Text 5"/>
          <p:cNvSpPr/>
          <p:nvPr/>
        </p:nvSpPr>
        <p:spPr>
          <a:xfrm>
            <a:off x="457200" y="1051560"/>
            <a:ext cx="1188720" cy="274320"/>
          </a:xfrm>
          <a:prstGeom prst="rect">
            <a:avLst/>
          </a:prstGeom>
          <a:noFill/>
          <a:ln/>
        </p:spPr>
        <p:txBody>
          <a:bodyPr wrap="square" lIns="0" tIns="0" rIns="0" bIns="0" rtlCol="0" anchor="ctr"/>
          <a:lstStyle/>
          <a:p>
            <a:pPr algn="l" indent="0" marL="0">
              <a:buNone/>
            </a:pPr>
            <a:r>
              <a:rPr lang="en-US" sz="1000" b="1" dirty="0">
                <a:solidFill>
                  <a:srgbClr val="5C3484"/>
                </a:solidFill>
                <a:latin typeface="Calibri" pitchFamily="34" charset="0"/>
                <a:ea typeface="Calibri" pitchFamily="34" charset="-122"/>
                <a:cs typeface="Calibri" pitchFamily="34" charset="-120"/>
              </a:rPr>
              <a:t>0–10 min</a:t>
            </a:r>
            <a:endParaRPr lang="en-US" sz="1000" dirty="0"/>
          </a:p>
        </p:txBody>
      </p:sp>
      <p:sp>
        <p:nvSpPr>
          <p:cNvPr id="8" name="Text 6"/>
          <p:cNvSpPr/>
          <p:nvPr/>
        </p:nvSpPr>
        <p:spPr>
          <a:xfrm>
            <a:off x="1737360" y="1042416"/>
            <a:ext cx="4114800" cy="292608"/>
          </a:xfrm>
          <a:prstGeom prst="rect">
            <a:avLst/>
          </a:prstGeom>
          <a:noFill/>
          <a:ln/>
        </p:spPr>
        <p:txBody>
          <a:bodyPr wrap="square" lIns="0" tIns="0" rIns="0" bIns="0" rtlCol="0" anchor="ctr"/>
          <a:lstStyle/>
          <a:p>
            <a:pPr algn="l" indent="0" marL="0">
              <a:buNone/>
            </a:pPr>
            <a:r>
              <a:rPr lang="en-US" sz="1400" b="1" dirty="0">
                <a:solidFill>
                  <a:srgbClr val="231340"/>
                </a:solidFill>
                <a:latin typeface="Georgia" pitchFamily="34" charset="0"/>
                <a:ea typeface="Georgia" pitchFamily="34" charset="-122"/>
                <a:cs typeface="Georgia" pitchFamily="34" charset="-120"/>
              </a:rPr>
              <a:t>Welcome &amp; Centering</a:t>
            </a:r>
            <a:endParaRPr lang="en-US" sz="1400" dirty="0"/>
          </a:p>
        </p:txBody>
      </p:sp>
      <p:sp>
        <p:nvSpPr>
          <p:cNvPr id="9" name="Text 7"/>
          <p:cNvSpPr/>
          <p:nvPr/>
        </p:nvSpPr>
        <p:spPr>
          <a:xfrm>
            <a:off x="1737360" y="1353312"/>
            <a:ext cx="6858000" cy="292608"/>
          </a:xfrm>
          <a:prstGeom prst="rect">
            <a:avLst/>
          </a:prstGeom>
          <a:noFill/>
          <a:ln/>
        </p:spPr>
        <p:txBody>
          <a:bodyPr wrap="square" lIns="0" tIns="0" rIns="0" bIns="0" rtlCol="0" anchor="ctr"/>
          <a:lstStyle/>
          <a:p>
            <a:pPr algn="l" indent="0" marL="0">
              <a:buNone/>
            </a:pPr>
            <a:r>
              <a:rPr lang="en-US" sz="1100" dirty="0">
                <a:solidFill>
                  <a:srgbClr val="5A4070"/>
                </a:solidFill>
                <a:latin typeface="Calibri" pitchFamily="34" charset="0"/>
                <a:ea typeface="Calibri" pitchFamily="34" charset="-122"/>
                <a:cs typeface="Calibri" pitchFamily="34" charset="-120"/>
              </a:rPr>
              <a:t>Opening prayer and a moment of honest naming.</a:t>
            </a:r>
            <a:endParaRPr lang="en-US" sz="1100" dirty="0"/>
          </a:p>
        </p:txBody>
      </p:sp>
      <p:sp>
        <p:nvSpPr>
          <p:cNvPr id="10" name="Shape 8"/>
          <p:cNvSpPr/>
          <p:nvPr/>
        </p:nvSpPr>
        <p:spPr>
          <a:xfrm>
            <a:off x="320040" y="1801368"/>
            <a:ext cx="8503920" cy="694944"/>
          </a:xfrm>
          <a:prstGeom prst="rect">
            <a:avLst/>
          </a:prstGeom>
          <a:solidFill>
            <a:srgbClr val="F2EDF8"/>
          </a:solidFill>
          <a:ln w="6350">
            <a:solidFill>
              <a:srgbClr val="E0D5F0"/>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320040" y="1801368"/>
            <a:ext cx="64008" cy="694944"/>
          </a:xfrm>
          <a:prstGeom prst="rect">
            <a:avLst/>
          </a:prstGeom>
          <a:solidFill>
            <a:srgbClr val="C9963A"/>
          </a:solidFill>
          <a:ln w="12700">
            <a:solidFill>
              <a:srgbClr val="C9963A"/>
            </a:solidFill>
            <a:prstDash val="solid"/>
          </a:ln>
        </p:spPr>
      </p:sp>
      <p:sp>
        <p:nvSpPr>
          <p:cNvPr id="12" name="Text 10"/>
          <p:cNvSpPr/>
          <p:nvPr/>
        </p:nvSpPr>
        <p:spPr>
          <a:xfrm>
            <a:off x="457200" y="1847088"/>
            <a:ext cx="1188720" cy="274320"/>
          </a:xfrm>
          <a:prstGeom prst="rect">
            <a:avLst/>
          </a:prstGeom>
          <a:noFill/>
          <a:ln/>
        </p:spPr>
        <p:txBody>
          <a:bodyPr wrap="square" lIns="0" tIns="0" rIns="0" bIns="0" rtlCol="0" anchor="ctr"/>
          <a:lstStyle/>
          <a:p>
            <a:pPr algn="l" indent="0" marL="0">
              <a:buNone/>
            </a:pPr>
            <a:r>
              <a:rPr lang="en-US" sz="1000" b="1" dirty="0">
                <a:solidFill>
                  <a:srgbClr val="5C3484"/>
                </a:solidFill>
                <a:latin typeface="Calibri" pitchFamily="34" charset="0"/>
                <a:ea typeface="Calibri" pitchFamily="34" charset="-122"/>
                <a:cs typeface="Calibri" pitchFamily="34" charset="-120"/>
              </a:rPr>
              <a:t>10–30 min</a:t>
            </a:r>
            <a:endParaRPr lang="en-US" sz="1000" dirty="0"/>
          </a:p>
        </p:txBody>
      </p:sp>
      <p:sp>
        <p:nvSpPr>
          <p:cNvPr id="13" name="Text 11"/>
          <p:cNvSpPr/>
          <p:nvPr/>
        </p:nvSpPr>
        <p:spPr>
          <a:xfrm>
            <a:off x="1737360" y="1837944"/>
            <a:ext cx="4114800" cy="292608"/>
          </a:xfrm>
          <a:prstGeom prst="rect">
            <a:avLst/>
          </a:prstGeom>
          <a:noFill/>
          <a:ln/>
        </p:spPr>
        <p:txBody>
          <a:bodyPr wrap="square" lIns="0" tIns="0" rIns="0" bIns="0" rtlCol="0" anchor="ctr"/>
          <a:lstStyle/>
          <a:p>
            <a:pPr algn="l" indent="0" marL="0">
              <a:buNone/>
            </a:pPr>
            <a:r>
              <a:rPr lang="en-US" sz="1400" b="1" dirty="0">
                <a:solidFill>
                  <a:srgbClr val="231340"/>
                </a:solidFill>
                <a:latin typeface="Georgia" pitchFamily="34" charset="0"/>
                <a:ea typeface="Georgia" pitchFamily="34" charset="-122"/>
                <a:cs typeface="Georgia" pitchFamily="34" charset="-120"/>
              </a:rPr>
              <a:t>Teaching: Holding Both</a:t>
            </a:r>
            <a:endParaRPr lang="en-US" sz="1400" dirty="0"/>
          </a:p>
        </p:txBody>
      </p:sp>
      <p:sp>
        <p:nvSpPr>
          <p:cNvPr id="14" name="Text 12"/>
          <p:cNvSpPr/>
          <p:nvPr/>
        </p:nvSpPr>
        <p:spPr>
          <a:xfrm>
            <a:off x="1737360" y="2148840"/>
            <a:ext cx="6858000" cy="292608"/>
          </a:xfrm>
          <a:prstGeom prst="rect">
            <a:avLst/>
          </a:prstGeom>
          <a:noFill/>
          <a:ln/>
        </p:spPr>
        <p:txBody>
          <a:bodyPr wrap="square" lIns="0" tIns="0" rIns="0" bIns="0" rtlCol="0" anchor="ctr"/>
          <a:lstStyle/>
          <a:p>
            <a:pPr algn="l" indent="0" marL="0">
              <a:buNone/>
            </a:pPr>
            <a:r>
              <a:rPr lang="en-US" sz="1100" dirty="0">
                <a:solidFill>
                  <a:srgbClr val="5A4070"/>
                </a:solidFill>
                <a:latin typeface="Calibri" pitchFamily="34" charset="0"/>
                <a:ea typeface="Calibri" pitchFamily="34" charset="-122"/>
                <a:cs typeface="Calibri" pitchFamily="34" charset="-120"/>
              </a:rPr>
              <a:t>Three movements -- Good Friday, Easter, and the tension between them.</a:t>
            </a:r>
            <a:endParaRPr lang="en-US" sz="1100" dirty="0"/>
          </a:p>
        </p:txBody>
      </p:sp>
      <p:sp>
        <p:nvSpPr>
          <p:cNvPr id="15" name="Shape 13"/>
          <p:cNvSpPr/>
          <p:nvPr/>
        </p:nvSpPr>
        <p:spPr>
          <a:xfrm>
            <a:off x="320040" y="2596896"/>
            <a:ext cx="8503920" cy="694944"/>
          </a:xfrm>
          <a:prstGeom prst="rect">
            <a:avLst/>
          </a:prstGeom>
          <a:solidFill>
            <a:srgbClr val="FFFFFF"/>
          </a:solidFill>
          <a:ln w="6350">
            <a:solidFill>
              <a:srgbClr val="E0D5F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320040" y="2596896"/>
            <a:ext cx="64008" cy="694944"/>
          </a:xfrm>
          <a:prstGeom prst="rect">
            <a:avLst/>
          </a:prstGeom>
          <a:solidFill>
            <a:srgbClr val="C9963A"/>
          </a:solidFill>
          <a:ln w="12700">
            <a:solidFill>
              <a:srgbClr val="C9963A"/>
            </a:solidFill>
            <a:prstDash val="solid"/>
          </a:ln>
        </p:spPr>
      </p:sp>
      <p:sp>
        <p:nvSpPr>
          <p:cNvPr id="17" name="Text 15"/>
          <p:cNvSpPr/>
          <p:nvPr/>
        </p:nvSpPr>
        <p:spPr>
          <a:xfrm>
            <a:off x="457200" y="2642616"/>
            <a:ext cx="1188720" cy="274320"/>
          </a:xfrm>
          <a:prstGeom prst="rect">
            <a:avLst/>
          </a:prstGeom>
          <a:noFill/>
          <a:ln/>
        </p:spPr>
        <p:txBody>
          <a:bodyPr wrap="square" lIns="0" tIns="0" rIns="0" bIns="0" rtlCol="0" anchor="ctr"/>
          <a:lstStyle/>
          <a:p>
            <a:pPr algn="l" indent="0" marL="0">
              <a:buNone/>
            </a:pPr>
            <a:r>
              <a:rPr lang="en-US" sz="1000" b="1" dirty="0">
                <a:solidFill>
                  <a:srgbClr val="5C3484"/>
                </a:solidFill>
                <a:latin typeface="Calibri" pitchFamily="34" charset="0"/>
                <a:ea typeface="Calibri" pitchFamily="34" charset="-122"/>
                <a:cs typeface="Calibri" pitchFamily="34" charset="-120"/>
              </a:rPr>
              <a:t>30–48 min</a:t>
            </a:r>
            <a:endParaRPr lang="en-US" sz="1000" dirty="0"/>
          </a:p>
        </p:txBody>
      </p:sp>
      <p:sp>
        <p:nvSpPr>
          <p:cNvPr id="18" name="Text 16"/>
          <p:cNvSpPr/>
          <p:nvPr/>
        </p:nvSpPr>
        <p:spPr>
          <a:xfrm>
            <a:off x="1737360" y="2633472"/>
            <a:ext cx="4114800" cy="292608"/>
          </a:xfrm>
          <a:prstGeom prst="rect">
            <a:avLst/>
          </a:prstGeom>
          <a:noFill/>
          <a:ln/>
        </p:spPr>
        <p:txBody>
          <a:bodyPr wrap="square" lIns="0" tIns="0" rIns="0" bIns="0" rtlCol="0" anchor="ctr"/>
          <a:lstStyle/>
          <a:p>
            <a:pPr algn="l" indent="0" marL="0">
              <a:buNone/>
            </a:pPr>
            <a:r>
              <a:rPr lang="en-US" sz="1400" b="1" dirty="0">
                <a:solidFill>
                  <a:srgbClr val="231340"/>
                </a:solidFill>
                <a:latin typeface="Georgia" pitchFamily="34" charset="0"/>
                <a:ea typeface="Georgia" pitchFamily="34" charset="-122"/>
                <a:cs typeface="Georgia" pitchFamily="34" charset="-120"/>
              </a:rPr>
              <a:t>Small Group Discussion</a:t>
            </a:r>
            <a:endParaRPr lang="en-US" sz="1400" dirty="0"/>
          </a:p>
        </p:txBody>
      </p:sp>
      <p:sp>
        <p:nvSpPr>
          <p:cNvPr id="19" name="Text 17"/>
          <p:cNvSpPr/>
          <p:nvPr/>
        </p:nvSpPr>
        <p:spPr>
          <a:xfrm>
            <a:off x="1737360" y="2944368"/>
            <a:ext cx="6858000" cy="292608"/>
          </a:xfrm>
          <a:prstGeom prst="rect">
            <a:avLst/>
          </a:prstGeom>
          <a:noFill/>
          <a:ln/>
        </p:spPr>
        <p:txBody>
          <a:bodyPr wrap="square" lIns="0" tIns="0" rIns="0" bIns="0" rtlCol="0" anchor="ctr"/>
          <a:lstStyle/>
          <a:p>
            <a:pPr algn="l" indent="0" marL="0">
              <a:buNone/>
            </a:pPr>
            <a:r>
              <a:rPr lang="en-US" sz="1100" dirty="0">
                <a:solidFill>
                  <a:srgbClr val="5A4070"/>
                </a:solidFill>
                <a:latin typeface="Calibri" pitchFamily="34" charset="0"/>
                <a:ea typeface="Calibri" pitchFamily="34" charset="-122"/>
                <a:cs typeface="Calibri" pitchFamily="34" charset="-120"/>
              </a:rPr>
              <a:t>Deep conversation in groups of 3–4 around guided questions.</a:t>
            </a:r>
            <a:endParaRPr lang="en-US" sz="1100" dirty="0"/>
          </a:p>
        </p:txBody>
      </p:sp>
      <p:sp>
        <p:nvSpPr>
          <p:cNvPr id="20" name="Shape 18"/>
          <p:cNvSpPr/>
          <p:nvPr/>
        </p:nvSpPr>
        <p:spPr>
          <a:xfrm>
            <a:off x="320040" y="3392424"/>
            <a:ext cx="8503920" cy="694944"/>
          </a:xfrm>
          <a:prstGeom prst="rect">
            <a:avLst/>
          </a:prstGeom>
          <a:solidFill>
            <a:srgbClr val="F2EDF8"/>
          </a:solidFill>
          <a:ln w="6350">
            <a:solidFill>
              <a:srgbClr val="E0D5F0"/>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20040" y="3392424"/>
            <a:ext cx="64008" cy="694944"/>
          </a:xfrm>
          <a:prstGeom prst="rect">
            <a:avLst/>
          </a:prstGeom>
          <a:solidFill>
            <a:srgbClr val="C9963A"/>
          </a:solidFill>
          <a:ln w="12700">
            <a:solidFill>
              <a:srgbClr val="C9963A"/>
            </a:solidFill>
            <a:prstDash val="solid"/>
          </a:ln>
        </p:spPr>
      </p:sp>
      <p:sp>
        <p:nvSpPr>
          <p:cNvPr id="22" name="Text 20"/>
          <p:cNvSpPr/>
          <p:nvPr/>
        </p:nvSpPr>
        <p:spPr>
          <a:xfrm>
            <a:off x="457200" y="3438144"/>
            <a:ext cx="1188720" cy="274320"/>
          </a:xfrm>
          <a:prstGeom prst="rect">
            <a:avLst/>
          </a:prstGeom>
          <a:noFill/>
          <a:ln/>
        </p:spPr>
        <p:txBody>
          <a:bodyPr wrap="square" lIns="0" tIns="0" rIns="0" bIns="0" rtlCol="0" anchor="ctr"/>
          <a:lstStyle/>
          <a:p>
            <a:pPr algn="l" indent="0" marL="0">
              <a:buNone/>
            </a:pPr>
            <a:r>
              <a:rPr lang="en-US" sz="1000" b="1" dirty="0">
                <a:solidFill>
                  <a:srgbClr val="5C3484"/>
                </a:solidFill>
                <a:latin typeface="Calibri" pitchFamily="34" charset="0"/>
                <a:ea typeface="Calibri" pitchFamily="34" charset="-122"/>
                <a:cs typeface="Calibri" pitchFamily="34" charset="-120"/>
              </a:rPr>
              <a:t>48–55 min</a:t>
            </a:r>
            <a:endParaRPr lang="en-US" sz="1000" dirty="0"/>
          </a:p>
        </p:txBody>
      </p:sp>
      <p:sp>
        <p:nvSpPr>
          <p:cNvPr id="23" name="Text 21"/>
          <p:cNvSpPr/>
          <p:nvPr/>
        </p:nvSpPr>
        <p:spPr>
          <a:xfrm>
            <a:off x="1737360" y="3429000"/>
            <a:ext cx="4114800" cy="292608"/>
          </a:xfrm>
          <a:prstGeom prst="rect">
            <a:avLst/>
          </a:prstGeom>
          <a:noFill/>
          <a:ln/>
        </p:spPr>
        <p:txBody>
          <a:bodyPr wrap="square" lIns="0" tIns="0" rIns="0" bIns="0" rtlCol="0" anchor="ctr"/>
          <a:lstStyle/>
          <a:p>
            <a:pPr algn="l" indent="0" marL="0">
              <a:buNone/>
            </a:pPr>
            <a:r>
              <a:rPr lang="en-US" sz="1400" b="1" dirty="0">
                <a:solidFill>
                  <a:srgbClr val="231340"/>
                </a:solidFill>
                <a:latin typeface="Georgia" pitchFamily="34" charset="0"/>
                <a:ea typeface="Georgia" pitchFamily="34" charset="-122"/>
                <a:cs typeface="Georgia" pitchFamily="34" charset="-120"/>
              </a:rPr>
              <a:t>Large Group Sharing</a:t>
            </a:r>
            <a:endParaRPr lang="en-US" sz="1400" dirty="0"/>
          </a:p>
        </p:txBody>
      </p:sp>
      <p:sp>
        <p:nvSpPr>
          <p:cNvPr id="24" name="Text 22"/>
          <p:cNvSpPr/>
          <p:nvPr/>
        </p:nvSpPr>
        <p:spPr>
          <a:xfrm>
            <a:off x="1737360" y="3739896"/>
            <a:ext cx="6858000" cy="292608"/>
          </a:xfrm>
          <a:prstGeom prst="rect">
            <a:avLst/>
          </a:prstGeom>
          <a:noFill/>
          <a:ln/>
        </p:spPr>
        <p:txBody>
          <a:bodyPr wrap="square" lIns="0" tIns="0" rIns="0" bIns="0" rtlCol="0" anchor="ctr"/>
          <a:lstStyle/>
          <a:p>
            <a:pPr algn="l" indent="0" marL="0">
              <a:buNone/>
            </a:pPr>
            <a:r>
              <a:rPr lang="en-US" sz="1100" dirty="0">
                <a:solidFill>
                  <a:srgbClr val="5A4070"/>
                </a:solidFill>
                <a:latin typeface="Calibri" pitchFamily="34" charset="0"/>
                <a:ea typeface="Calibri" pitchFamily="34" charset="-122"/>
                <a:cs typeface="Calibri" pitchFamily="34" charset="-120"/>
              </a:rPr>
              <a:t>Synthesis and shared insights from each small group.</a:t>
            </a:r>
            <a:endParaRPr lang="en-US" sz="1100" dirty="0"/>
          </a:p>
        </p:txBody>
      </p:sp>
      <p:sp>
        <p:nvSpPr>
          <p:cNvPr id="25" name="Shape 23"/>
          <p:cNvSpPr/>
          <p:nvPr/>
        </p:nvSpPr>
        <p:spPr>
          <a:xfrm>
            <a:off x="320040" y="4187952"/>
            <a:ext cx="8503920" cy="694944"/>
          </a:xfrm>
          <a:prstGeom prst="rect">
            <a:avLst/>
          </a:prstGeom>
          <a:solidFill>
            <a:srgbClr val="FFFFFF"/>
          </a:solidFill>
          <a:ln w="6350">
            <a:solidFill>
              <a:srgbClr val="E0D5F0"/>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320040" y="4187952"/>
            <a:ext cx="64008" cy="694944"/>
          </a:xfrm>
          <a:prstGeom prst="rect">
            <a:avLst/>
          </a:prstGeom>
          <a:solidFill>
            <a:srgbClr val="C9963A"/>
          </a:solidFill>
          <a:ln w="12700">
            <a:solidFill>
              <a:srgbClr val="C9963A"/>
            </a:solidFill>
            <a:prstDash val="solid"/>
          </a:ln>
        </p:spPr>
      </p:sp>
      <p:sp>
        <p:nvSpPr>
          <p:cNvPr id="27" name="Text 25"/>
          <p:cNvSpPr/>
          <p:nvPr/>
        </p:nvSpPr>
        <p:spPr>
          <a:xfrm>
            <a:off x="457200" y="4233672"/>
            <a:ext cx="1188720" cy="274320"/>
          </a:xfrm>
          <a:prstGeom prst="rect">
            <a:avLst/>
          </a:prstGeom>
          <a:noFill/>
          <a:ln/>
        </p:spPr>
        <p:txBody>
          <a:bodyPr wrap="square" lIns="0" tIns="0" rIns="0" bIns="0" rtlCol="0" anchor="ctr"/>
          <a:lstStyle/>
          <a:p>
            <a:pPr algn="l" indent="0" marL="0">
              <a:buNone/>
            </a:pPr>
            <a:r>
              <a:rPr lang="en-US" sz="1000" b="1" dirty="0">
                <a:solidFill>
                  <a:srgbClr val="5C3484"/>
                </a:solidFill>
                <a:latin typeface="Calibri" pitchFamily="34" charset="0"/>
                <a:ea typeface="Calibri" pitchFamily="34" charset="-122"/>
                <a:cs typeface="Calibri" pitchFamily="34" charset="-120"/>
              </a:rPr>
              <a:t>55–60 min</a:t>
            </a:r>
            <a:endParaRPr lang="en-US" sz="1000" dirty="0"/>
          </a:p>
        </p:txBody>
      </p:sp>
      <p:sp>
        <p:nvSpPr>
          <p:cNvPr id="28" name="Text 26"/>
          <p:cNvSpPr/>
          <p:nvPr/>
        </p:nvSpPr>
        <p:spPr>
          <a:xfrm>
            <a:off x="1737360" y="4224528"/>
            <a:ext cx="4114800" cy="292608"/>
          </a:xfrm>
          <a:prstGeom prst="rect">
            <a:avLst/>
          </a:prstGeom>
          <a:noFill/>
          <a:ln/>
        </p:spPr>
        <p:txBody>
          <a:bodyPr wrap="square" lIns="0" tIns="0" rIns="0" bIns="0" rtlCol="0" anchor="ctr"/>
          <a:lstStyle/>
          <a:p>
            <a:pPr algn="l" indent="0" marL="0">
              <a:buNone/>
            </a:pPr>
            <a:r>
              <a:rPr lang="en-US" sz="1400" b="1" dirty="0">
                <a:solidFill>
                  <a:srgbClr val="231340"/>
                </a:solidFill>
                <a:latin typeface="Georgia" pitchFamily="34" charset="0"/>
                <a:ea typeface="Georgia" pitchFamily="34" charset="-122"/>
                <a:cs typeface="Georgia" pitchFamily="34" charset="-120"/>
              </a:rPr>
              <a:t>Closing Practice &amp; Commission</a:t>
            </a:r>
            <a:endParaRPr lang="en-US" sz="1400" dirty="0"/>
          </a:p>
        </p:txBody>
      </p:sp>
      <p:sp>
        <p:nvSpPr>
          <p:cNvPr id="29" name="Text 27"/>
          <p:cNvSpPr/>
          <p:nvPr/>
        </p:nvSpPr>
        <p:spPr>
          <a:xfrm>
            <a:off x="1737360" y="4535424"/>
            <a:ext cx="6858000" cy="292608"/>
          </a:xfrm>
          <a:prstGeom prst="rect">
            <a:avLst/>
          </a:prstGeom>
          <a:noFill/>
          <a:ln/>
        </p:spPr>
        <p:txBody>
          <a:bodyPr wrap="square" lIns="0" tIns="0" rIns="0" bIns="0" rtlCol="0" anchor="ctr"/>
          <a:lstStyle/>
          <a:p>
            <a:pPr algn="l" indent="0" marL="0">
              <a:buNone/>
            </a:pPr>
            <a:r>
              <a:rPr lang="en-US" sz="1100" dirty="0">
                <a:solidFill>
                  <a:srgbClr val="5A4070"/>
                </a:solidFill>
                <a:latin typeface="Calibri" pitchFamily="34" charset="0"/>
                <a:ea typeface="Calibri" pitchFamily="34" charset="-122"/>
                <a:cs typeface="Calibri" pitchFamily="34" charset="-120"/>
              </a:rPr>
              <a:t>The Daily Examen -- a practice to carry through Lent.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B1F5E"/>
        </a:solidFill>
      </p:bgPr>
    </p:bg>
    <p:spTree>
      <p:nvGrpSpPr>
        <p:cNvPr id="1" name=""/>
        <p:cNvGrpSpPr/>
        <p:nvPr/>
      </p:nvGrpSpPr>
      <p:grpSpPr>
        <a:xfrm>
          <a:off x="0" y="0"/>
          <a:ext cx="0" cy="0"/>
          <a:chOff x="0" y="0"/>
          <a:chExt cx="0" cy="0"/>
        </a:xfrm>
      </p:grpSpPr>
      <p:sp>
        <p:nvSpPr>
          <p:cNvPr id="2" name="Shape 0"/>
          <p:cNvSpPr/>
          <p:nvPr/>
        </p:nvSpPr>
        <p:spPr>
          <a:xfrm>
            <a:off x="365760" y="320040"/>
            <a:ext cx="1371600" cy="347472"/>
          </a:xfrm>
          <a:prstGeom prst="rect">
            <a:avLst/>
          </a:prstGeom>
          <a:solidFill>
            <a:srgbClr val="C9963A"/>
          </a:solidFill>
          <a:ln w="12700">
            <a:solidFill>
              <a:srgbClr val="C9963A"/>
            </a:solidFill>
            <a:prstDash val="solid"/>
          </a:ln>
        </p:spPr>
      </p:sp>
      <p:sp>
        <p:nvSpPr>
          <p:cNvPr id="3" name="Text 1"/>
          <p:cNvSpPr/>
          <p:nvPr/>
        </p:nvSpPr>
        <p:spPr>
          <a:xfrm>
            <a:off x="365760" y="320040"/>
            <a:ext cx="1371600" cy="347472"/>
          </a:xfrm>
          <a:prstGeom prst="rect">
            <a:avLst/>
          </a:prstGeom>
          <a:noFill/>
          <a:ln/>
        </p:spPr>
        <p:txBody>
          <a:bodyPr wrap="square" rtlCol="0" anchor="ctr"/>
          <a:lstStyle/>
          <a:p>
            <a:pPr algn="ctr" indent="0" marL="0">
              <a:buNone/>
            </a:pPr>
            <a:r>
              <a:rPr lang="en-US" sz="1100" b="1" dirty="0">
                <a:solidFill>
                  <a:srgbClr val="3B1F5E"/>
                </a:solidFill>
                <a:latin typeface="Calibri" pitchFamily="34" charset="0"/>
                <a:ea typeface="Calibri" pitchFamily="34" charset="-122"/>
                <a:cs typeface="Calibri" pitchFamily="34" charset="-120"/>
              </a:rPr>
              <a:t>0–10 MIN</a:t>
            </a:r>
            <a:endParaRPr lang="en-US" sz="1100" dirty="0"/>
          </a:p>
        </p:txBody>
      </p:sp>
      <p:sp>
        <p:nvSpPr>
          <p:cNvPr id="4" name="Text 2"/>
          <p:cNvSpPr/>
          <p:nvPr/>
        </p:nvSpPr>
        <p:spPr>
          <a:xfrm>
            <a:off x="365760" y="777240"/>
            <a:ext cx="8229600" cy="64008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Welcome &amp; Centering</a:t>
            </a:r>
            <a:endParaRPr lang="en-US" sz="3600" dirty="0"/>
          </a:p>
        </p:txBody>
      </p:sp>
      <p:sp>
        <p:nvSpPr>
          <p:cNvPr id="5" name="Shape 3"/>
          <p:cNvSpPr/>
          <p:nvPr/>
        </p:nvSpPr>
        <p:spPr>
          <a:xfrm>
            <a:off x="365760" y="1481328"/>
            <a:ext cx="8229600" cy="36576"/>
          </a:xfrm>
          <a:prstGeom prst="rect">
            <a:avLst/>
          </a:prstGeom>
          <a:solidFill>
            <a:srgbClr val="C9963A"/>
          </a:solidFill>
          <a:ln w="12700">
            <a:solidFill>
              <a:srgbClr val="C9963A"/>
            </a:solidFill>
            <a:prstDash val="solid"/>
          </a:ln>
        </p:spPr>
      </p:sp>
      <p:sp>
        <p:nvSpPr>
          <p:cNvPr id="6" name="Shape 4"/>
          <p:cNvSpPr/>
          <p:nvPr/>
        </p:nvSpPr>
        <p:spPr>
          <a:xfrm>
            <a:off x="502920" y="1691640"/>
            <a:ext cx="3977640" cy="2926080"/>
          </a:xfrm>
          <a:prstGeom prst="rect">
            <a:avLst/>
          </a:prstGeom>
          <a:solidFill>
            <a:srgbClr val="4A2870"/>
          </a:solidFill>
          <a:ln w="12700">
            <a:solidFill>
              <a:srgbClr val="5C3484"/>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194560" y="1783080"/>
            <a:ext cx="594360" cy="594360"/>
          </a:xfrm>
          <a:prstGeom prst="ellipse">
            <a:avLst/>
          </a:prstGeom>
          <a:solidFill>
            <a:srgbClr val="C9963A"/>
          </a:solidFill>
          <a:ln w="12700">
            <a:solidFill>
              <a:srgbClr val="C9963A"/>
            </a:solidFill>
            <a:prstDash val="solid"/>
          </a:ln>
        </p:spPr>
      </p:sp>
      <p:sp>
        <p:nvSpPr>
          <p:cNvPr id="8" name="Text 6"/>
          <p:cNvSpPr/>
          <p:nvPr/>
        </p:nvSpPr>
        <p:spPr>
          <a:xfrm>
            <a:off x="2194560" y="1783080"/>
            <a:ext cx="594360" cy="594360"/>
          </a:xfrm>
          <a:prstGeom prst="rect">
            <a:avLst/>
          </a:prstGeom>
          <a:noFill/>
          <a:ln/>
        </p:spPr>
        <p:txBody>
          <a:bodyPr wrap="square" rtlCol="0" anchor="ctr"/>
          <a:lstStyle/>
          <a:p>
            <a:pPr algn="ctr" indent="0" marL="0">
              <a:buNone/>
            </a:pPr>
            <a:r>
              <a:rPr lang="en-US" sz="1800" b="1" dirty="0">
                <a:solidFill>
                  <a:srgbClr val="3B1F5E"/>
                </a:solidFill>
                <a:latin typeface="Georgia" pitchFamily="34" charset="0"/>
                <a:ea typeface="Georgia" pitchFamily="34" charset="-122"/>
                <a:cs typeface="Georgia" pitchFamily="34" charset="-120"/>
              </a:rPr>
              <a:t>1</a:t>
            </a:r>
            <a:endParaRPr lang="en-US" sz="1800" dirty="0"/>
          </a:p>
        </p:txBody>
      </p:sp>
      <p:sp>
        <p:nvSpPr>
          <p:cNvPr id="9" name="Text 7"/>
          <p:cNvSpPr/>
          <p:nvPr/>
        </p:nvSpPr>
        <p:spPr>
          <a:xfrm>
            <a:off x="685800" y="2514600"/>
            <a:ext cx="361188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Open with Prayer</a:t>
            </a:r>
            <a:endParaRPr lang="en-US" sz="1600" dirty="0"/>
          </a:p>
        </p:txBody>
      </p:sp>
      <p:sp>
        <p:nvSpPr>
          <p:cNvPr id="10" name="Text 8"/>
          <p:cNvSpPr/>
          <p:nvPr/>
        </p:nvSpPr>
        <p:spPr>
          <a:xfrm>
            <a:off x="731520" y="3035808"/>
            <a:ext cx="3520440" cy="1463040"/>
          </a:xfrm>
          <a:prstGeom prst="rect">
            <a:avLst/>
          </a:prstGeom>
          <a:noFill/>
          <a:ln/>
        </p:spPr>
        <p:txBody>
          <a:bodyPr wrap="square" rtlCol="0" anchor="ctr"/>
          <a:lstStyle/>
          <a:p>
            <a:pPr algn="ctr" indent="0" marL="0">
              <a:buNone/>
            </a:pPr>
            <a:r>
              <a:rPr lang="en-US" sz="1300" dirty="0">
                <a:solidFill>
                  <a:srgbClr val="C8B0E0"/>
                </a:solidFill>
                <a:latin typeface="Calibri" pitchFamily="34" charset="0"/>
                <a:ea typeface="Calibri" pitchFamily="34" charset="-122"/>
                <a:cs typeface="Calibri" pitchFamily="34" charset="-120"/>
              </a:rPr>
              <a:t>A collect from the Lenten liturgy -- or a moment of gathered silence before God. Keep it brief; the silence itself is part of the opening.</a:t>
            </a:r>
            <a:endParaRPr lang="en-US" sz="1300" dirty="0"/>
          </a:p>
        </p:txBody>
      </p:sp>
      <p:sp>
        <p:nvSpPr>
          <p:cNvPr id="11" name="Shape 9"/>
          <p:cNvSpPr/>
          <p:nvPr/>
        </p:nvSpPr>
        <p:spPr>
          <a:xfrm>
            <a:off x="4800600" y="1691640"/>
            <a:ext cx="3977640" cy="2926080"/>
          </a:xfrm>
          <a:prstGeom prst="rect">
            <a:avLst/>
          </a:prstGeom>
          <a:solidFill>
            <a:srgbClr val="4A2870"/>
          </a:solidFill>
          <a:ln w="12700">
            <a:solidFill>
              <a:srgbClr val="5C3484"/>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6492240" y="1783080"/>
            <a:ext cx="594360" cy="594360"/>
          </a:xfrm>
          <a:prstGeom prst="ellipse">
            <a:avLst/>
          </a:prstGeom>
          <a:solidFill>
            <a:srgbClr val="C9963A"/>
          </a:solidFill>
          <a:ln w="12700">
            <a:solidFill>
              <a:srgbClr val="C9963A"/>
            </a:solidFill>
            <a:prstDash val="solid"/>
          </a:ln>
        </p:spPr>
      </p:sp>
      <p:sp>
        <p:nvSpPr>
          <p:cNvPr id="13" name="Text 11"/>
          <p:cNvSpPr/>
          <p:nvPr/>
        </p:nvSpPr>
        <p:spPr>
          <a:xfrm>
            <a:off x="6492240" y="1783080"/>
            <a:ext cx="594360" cy="594360"/>
          </a:xfrm>
          <a:prstGeom prst="rect">
            <a:avLst/>
          </a:prstGeom>
          <a:noFill/>
          <a:ln/>
        </p:spPr>
        <p:txBody>
          <a:bodyPr wrap="square" rtlCol="0" anchor="ctr"/>
          <a:lstStyle/>
          <a:p>
            <a:pPr algn="ctr" indent="0" marL="0">
              <a:buNone/>
            </a:pPr>
            <a:r>
              <a:rPr lang="en-US" sz="1800" b="1" dirty="0">
                <a:solidFill>
                  <a:srgbClr val="3B1F5E"/>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4983480" y="2514600"/>
            <a:ext cx="361188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Name What Is</a:t>
            </a:r>
            <a:endParaRPr lang="en-US" sz="1600" dirty="0"/>
          </a:p>
        </p:txBody>
      </p:sp>
      <p:sp>
        <p:nvSpPr>
          <p:cNvPr id="15" name="Text 13"/>
          <p:cNvSpPr/>
          <p:nvPr/>
        </p:nvSpPr>
        <p:spPr>
          <a:xfrm>
            <a:off x="5029200" y="3035808"/>
            <a:ext cx="3520440" cy="1463040"/>
          </a:xfrm>
          <a:prstGeom prst="rect">
            <a:avLst/>
          </a:prstGeom>
          <a:noFill/>
          <a:ln/>
        </p:spPr>
        <p:txBody>
          <a:bodyPr wrap="square" rtlCol="0" anchor="ctr"/>
          <a:lstStyle/>
          <a:p>
            <a:pPr algn="ctr" indent="0" marL="0">
              <a:buNone/>
            </a:pPr>
            <a:r>
              <a:rPr lang="en-US" sz="1300" dirty="0">
                <a:solidFill>
                  <a:srgbClr val="C8B0E0"/>
                </a:solidFill>
                <a:latin typeface="Calibri" pitchFamily="34" charset="0"/>
                <a:ea typeface="Calibri" pitchFamily="34" charset="-122"/>
                <a:cs typeface="Calibri" pitchFamily="34" charset="-120"/>
              </a:rPr>
              <a:t>Each person names -- without elaboration -- one thing that feels like Good Friday right now. Go around the room once. No fixing. No responding. Just naming.</a:t>
            </a:r>
            <a:endParaRPr lang="en-US" sz="1300" dirty="0"/>
          </a:p>
        </p:txBody>
      </p:sp>
      <p:sp>
        <p:nvSpPr>
          <p:cNvPr id="16" name="Text 14"/>
          <p:cNvSpPr/>
          <p:nvPr/>
        </p:nvSpPr>
        <p:spPr>
          <a:xfrm>
            <a:off x="365760" y="4663440"/>
            <a:ext cx="8229600" cy="320040"/>
          </a:xfrm>
          <a:prstGeom prst="rect">
            <a:avLst/>
          </a:prstGeom>
          <a:noFill/>
          <a:ln/>
        </p:spPr>
        <p:txBody>
          <a:bodyPr wrap="square" rtlCol="0" anchor="ctr"/>
          <a:lstStyle/>
          <a:p>
            <a:pPr algn="ctr" indent="0" marL="0">
              <a:buNone/>
            </a:pPr>
            <a:r>
              <a:rPr lang="en-US" sz="1300" i="1" dirty="0">
                <a:solidFill>
                  <a:srgbClr val="F0D080"/>
                </a:solidFill>
                <a:latin typeface="Calibri" pitchFamily="34" charset="0"/>
                <a:ea typeface="Calibri" pitchFamily="34" charset="-122"/>
                <a:cs typeface="Calibri" pitchFamily="34" charset="-120"/>
              </a:rPr>
              <a:t>No fixing. No responding. Just naming.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3B1F5E"/>
          </a:solidFill>
          <a:ln w="12700">
            <a:solidFill>
              <a:srgbClr val="3B1F5E"/>
            </a:solidFill>
            <a:prstDash val="solid"/>
          </a:ln>
        </p:spPr>
      </p:sp>
      <p:sp>
        <p:nvSpPr>
          <p:cNvPr id="3" name="Text 1"/>
          <p:cNvSpPr/>
          <p:nvPr/>
        </p:nvSpPr>
        <p:spPr>
          <a:xfrm>
            <a:off x="365760" y="0"/>
            <a:ext cx="6400800" cy="914400"/>
          </a:xfrm>
          <a:prstGeom prst="rect">
            <a:avLst/>
          </a:prstGeom>
          <a:noFill/>
          <a:ln/>
        </p:spPr>
        <p:txBody>
          <a:bodyPr wrap="square"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Teaching: Holding Both</a:t>
            </a:r>
            <a:endParaRPr lang="en-US" sz="2800" dirty="0"/>
          </a:p>
        </p:txBody>
      </p:sp>
      <p:sp>
        <p:nvSpPr>
          <p:cNvPr id="4" name="Text 2"/>
          <p:cNvSpPr/>
          <p:nvPr/>
        </p:nvSpPr>
        <p:spPr>
          <a:xfrm>
            <a:off x="6766560" y="0"/>
            <a:ext cx="2011680" cy="914400"/>
          </a:xfrm>
          <a:prstGeom prst="rect">
            <a:avLst/>
          </a:prstGeom>
          <a:noFill/>
          <a:ln/>
        </p:spPr>
        <p:txBody>
          <a:bodyPr wrap="square" rtlCol="0" anchor="ctr"/>
          <a:lstStyle/>
          <a:p>
            <a:pPr algn="r" indent="0" marL="0">
              <a:buNone/>
            </a:pPr>
            <a:r>
              <a:rPr lang="en-US" sz="1200" b="1" dirty="0">
                <a:solidFill>
                  <a:srgbClr val="F0D080"/>
                </a:solidFill>
                <a:latin typeface="Calibri" pitchFamily="34" charset="0"/>
                <a:ea typeface="Calibri" pitchFamily="34" charset="-122"/>
                <a:cs typeface="Calibri" pitchFamily="34" charset="-120"/>
              </a:rPr>
              <a:t>10–30 MIN</a:t>
            </a:r>
            <a:endParaRPr lang="en-US" sz="1200" dirty="0"/>
          </a:p>
        </p:txBody>
      </p:sp>
      <p:sp>
        <p:nvSpPr>
          <p:cNvPr id="5" name="Shape 3"/>
          <p:cNvSpPr/>
          <p:nvPr/>
        </p:nvSpPr>
        <p:spPr>
          <a:xfrm>
            <a:off x="274320" y="1097280"/>
            <a:ext cx="2743200" cy="3657600"/>
          </a:xfrm>
          <a:prstGeom prst="rect">
            <a:avLst/>
          </a:prstGeom>
          <a:solidFill>
            <a:srgbClr val="F0E6FA"/>
          </a:solidFill>
          <a:ln w="6350">
            <a:solidFill>
              <a:srgbClr val="D0C0E0"/>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274320" y="1097280"/>
            <a:ext cx="2743200" cy="411480"/>
          </a:xfrm>
          <a:prstGeom prst="rect">
            <a:avLst/>
          </a:prstGeom>
          <a:solidFill>
            <a:srgbClr val="5C2D6E"/>
          </a:solidFill>
          <a:ln w="12700">
            <a:solidFill>
              <a:srgbClr val="5C2D6E"/>
            </a:solidFill>
            <a:prstDash val="solid"/>
          </a:ln>
        </p:spPr>
      </p:sp>
      <p:sp>
        <p:nvSpPr>
          <p:cNvPr id="7" name="Text 5"/>
          <p:cNvSpPr/>
          <p:nvPr/>
        </p:nvSpPr>
        <p:spPr>
          <a:xfrm>
            <a:off x="365760" y="1115568"/>
            <a:ext cx="2560320" cy="365760"/>
          </a:xfrm>
          <a:prstGeom prst="rect">
            <a:avLst/>
          </a:prstGeom>
          <a:noFill/>
          <a:ln/>
        </p:spPr>
        <p:txBody>
          <a:bodyPr wrap="square" lIns="63500" tIns="63500" rIns="63500" bIns="635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Movement I</a:t>
            </a:r>
            <a:endParaRPr lang="en-US" sz="1100" dirty="0"/>
          </a:p>
        </p:txBody>
      </p:sp>
      <p:sp>
        <p:nvSpPr>
          <p:cNvPr id="8" name="Text 6"/>
          <p:cNvSpPr/>
          <p:nvPr/>
        </p:nvSpPr>
        <p:spPr>
          <a:xfrm>
            <a:off x="411480" y="1600200"/>
            <a:ext cx="2468880" cy="640080"/>
          </a:xfrm>
          <a:prstGeom prst="rect">
            <a:avLst/>
          </a:prstGeom>
          <a:noFill/>
          <a:ln/>
        </p:spPr>
        <p:txBody>
          <a:bodyPr wrap="square" rtlCol="0" anchor="ctr"/>
          <a:lstStyle/>
          <a:p>
            <a:pPr algn="l" indent="0" marL="0">
              <a:buNone/>
            </a:pPr>
            <a:r>
              <a:rPr lang="en-US" sz="1500" b="1" dirty="0">
                <a:solidFill>
                  <a:srgbClr val="5C2D6E"/>
                </a:solidFill>
                <a:latin typeface="Georgia" pitchFamily="34" charset="0"/>
                <a:ea typeface="Georgia" pitchFamily="34" charset="-122"/>
                <a:cs typeface="Georgia" pitchFamily="34" charset="-120"/>
              </a:rPr>
              <a:t>Good Friday Is Real</a:t>
            </a:r>
            <a:endParaRPr lang="en-US" sz="1500" dirty="0"/>
          </a:p>
        </p:txBody>
      </p:sp>
      <p:sp>
        <p:nvSpPr>
          <p:cNvPr id="9" name="Shape 7"/>
          <p:cNvSpPr/>
          <p:nvPr/>
        </p:nvSpPr>
        <p:spPr>
          <a:xfrm>
            <a:off x="411480" y="2331720"/>
            <a:ext cx="1371600" cy="256032"/>
          </a:xfrm>
          <a:prstGeom prst="rect">
            <a:avLst/>
          </a:prstGeom>
          <a:solidFill>
            <a:srgbClr val="C9963A"/>
          </a:solidFill>
          <a:ln w="12700">
            <a:solidFill>
              <a:srgbClr val="C9963A"/>
            </a:solidFill>
            <a:prstDash val="solid"/>
          </a:ln>
        </p:spPr>
      </p:sp>
      <p:sp>
        <p:nvSpPr>
          <p:cNvPr id="10" name="Text 8"/>
          <p:cNvSpPr/>
          <p:nvPr/>
        </p:nvSpPr>
        <p:spPr>
          <a:xfrm>
            <a:off x="411480" y="2331720"/>
            <a:ext cx="137160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Psalm 22</a:t>
            </a:r>
            <a:endParaRPr lang="en-US" sz="1000" dirty="0"/>
          </a:p>
        </p:txBody>
      </p:sp>
      <p:sp>
        <p:nvSpPr>
          <p:cNvPr id="11" name="Text 9"/>
          <p:cNvSpPr/>
          <p:nvPr/>
        </p:nvSpPr>
        <p:spPr>
          <a:xfrm>
            <a:off x="411480" y="2697480"/>
            <a:ext cx="2468880" cy="1920240"/>
          </a:xfrm>
          <a:prstGeom prst="rect">
            <a:avLst/>
          </a:prstGeom>
          <a:noFill/>
          <a:ln/>
        </p:spPr>
        <p:txBody>
          <a:bodyPr wrap="square" rtlCol="0" anchor="t"/>
          <a:lstStyle/>
          <a:p>
            <a:pPr algn="l" indent="0" marL="0">
              <a:buNone/>
            </a:pPr>
            <a:r>
              <a:rPr lang="en-US" sz="1200" dirty="0">
                <a:solidFill>
                  <a:srgbClr val="231340"/>
                </a:solidFill>
                <a:latin typeface="Calibri" pitchFamily="34" charset="0"/>
                <a:ea typeface="Calibri" pitchFamily="34" charset="-122"/>
                <a:cs typeface="Calibri" pitchFamily="34" charset="-120"/>
              </a:rPr>
              <a:t>The Episcopal tradition does not flinch from lament. We name illness, injustice, grief, ecological loss -- the full weight of the already. Don't rush past it.</a:t>
            </a:r>
            <a:endParaRPr lang="en-US" sz="1200" dirty="0"/>
          </a:p>
        </p:txBody>
      </p:sp>
      <p:sp>
        <p:nvSpPr>
          <p:cNvPr id="12" name="Shape 10"/>
          <p:cNvSpPr/>
          <p:nvPr/>
        </p:nvSpPr>
        <p:spPr>
          <a:xfrm>
            <a:off x="3200400" y="1097280"/>
            <a:ext cx="2743200" cy="3657600"/>
          </a:xfrm>
          <a:prstGeom prst="rect">
            <a:avLst/>
          </a:prstGeom>
          <a:solidFill>
            <a:srgbClr val="FDF6E3"/>
          </a:solidFill>
          <a:ln w="6350">
            <a:solidFill>
              <a:srgbClr val="D0C0E0"/>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3200400" y="1097280"/>
            <a:ext cx="2743200" cy="411480"/>
          </a:xfrm>
          <a:prstGeom prst="rect">
            <a:avLst/>
          </a:prstGeom>
          <a:solidFill>
            <a:srgbClr val="7A5C00"/>
          </a:solidFill>
          <a:ln w="12700">
            <a:solidFill>
              <a:srgbClr val="7A5C00"/>
            </a:solidFill>
            <a:prstDash val="solid"/>
          </a:ln>
        </p:spPr>
      </p:sp>
      <p:sp>
        <p:nvSpPr>
          <p:cNvPr id="14" name="Text 12"/>
          <p:cNvSpPr/>
          <p:nvPr/>
        </p:nvSpPr>
        <p:spPr>
          <a:xfrm>
            <a:off x="3291840" y="1115568"/>
            <a:ext cx="2560320" cy="365760"/>
          </a:xfrm>
          <a:prstGeom prst="rect">
            <a:avLst/>
          </a:prstGeom>
          <a:noFill/>
          <a:ln/>
        </p:spPr>
        <p:txBody>
          <a:bodyPr wrap="square" lIns="63500" tIns="63500" rIns="63500" bIns="635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Movement II</a:t>
            </a:r>
            <a:endParaRPr lang="en-US" sz="1100" dirty="0"/>
          </a:p>
        </p:txBody>
      </p:sp>
      <p:sp>
        <p:nvSpPr>
          <p:cNvPr id="15" name="Text 13"/>
          <p:cNvSpPr/>
          <p:nvPr/>
        </p:nvSpPr>
        <p:spPr>
          <a:xfrm>
            <a:off x="3337560" y="1600200"/>
            <a:ext cx="2468880" cy="640080"/>
          </a:xfrm>
          <a:prstGeom prst="rect">
            <a:avLst/>
          </a:prstGeom>
          <a:noFill/>
          <a:ln/>
        </p:spPr>
        <p:txBody>
          <a:bodyPr wrap="square" rtlCol="0" anchor="ctr"/>
          <a:lstStyle/>
          <a:p>
            <a:pPr algn="l" indent="0" marL="0">
              <a:buNone/>
            </a:pPr>
            <a:r>
              <a:rPr lang="en-US" sz="1500" b="1" dirty="0">
                <a:solidFill>
                  <a:srgbClr val="7A5C00"/>
                </a:solidFill>
                <a:latin typeface="Georgia" pitchFamily="34" charset="0"/>
                <a:ea typeface="Georgia" pitchFamily="34" charset="-122"/>
                <a:cs typeface="Georgia" pitchFamily="34" charset="-120"/>
              </a:rPr>
              <a:t>Easter Is Also Real</a:t>
            </a:r>
            <a:endParaRPr lang="en-US" sz="1500" dirty="0"/>
          </a:p>
        </p:txBody>
      </p:sp>
      <p:sp>
        <p:nvSpPr>
          <p:cNvPr id="16" name="Shape 14"/>
          <p:cNvSpPr/>
          <p:nvPr/>
        </p:nvSpPr>
        <p:spPr>
          <a:xfrm>
            <a:off x="3337560" y="2331720"/>
            <a:ext cx="1371600" cy="256032"/>
          </a:xfrm>
          <a:prstGeom prst="rect">
            <a:avLst/>
          </a:prstGeom>
          <a:solidFill>
            <a:srgbClr val="C9963A"/>
          </a:solidFill>
          <a:ln w="12700">
            <a:solidFill>
              <a:srgbClr val="C9963A"/>
            </a:solidFill>
            <a:prstDash val="solid"/>
          </a:ln>
        </p:spPr>
      </p:sp>
      <p:sp>
        <p:nvSpPr>
          <p:cNvPr id="17" name="Text 15"/>
          <p:cNvSpPr/>
          <p:nvPr/>
        </p:nvSpPr>
        <p:spPr>
          <a:xfrm>
            <a:off x="3337560" y="2331720"/>
            <a:ext cx="137160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Romans 8:18–25</a:t>
            </a:r>
            <a:endParaRPr lang="en-US" sz="1000" dirty="0"/>
          </a:p>
        </p:txBody>
      </p:sp>
      <p:sp>
        <p:nvSpPr>
          <p:cNvPr id="18" name="Text 16"/>
          <p:cNvSpPr/>
          <p:nvPr/>
        </p:nvSpPr>
        <p:spPr>
          <a:xfrm>
            <a:off x="3337560" y="2697480"/>
            <a:ext cx="2468880" cy="1920240"/>
          </a:xfrm>
          <a:prstGeom prst="rect">
            <a:avLst/>
          </a:prstGeom>
          <a:noFill/>
          <a:ln/>
        </p:spPr>
        <p:txBody>
          <a:bodyPr wrap="square" rtlCol="0" anchor="t"/>
          <a:lstStyle/>
          <a:p>
            <a:pPr algn="l" indent="0" marL="0">
              <a:buNone/>
            </a:pPr>
            <a:r>
              <a:rPr lang="en-US" sz="1200" dirty="0">
                <a:solidFill>
                  <a:srgbClr val="231340"/>
                </a:solidFill>
                <a:latin typeface="Calibri" pitchFamily="34" charset="0"/>
                <a:ea typeface="Calibri" pitchFamily="34" charset="-122"/>
                <a:cs typeface="Calibri" pitchFamily="34" charset="-120"/>
              </a:rPr>
              <a:t>Easter people are not optimists. They hold a specific claim: death does not have the final word. The risen Christ still bears wounds. Easter doesn't erase the scars.</a:t>
            </a:r>
            <a:endParaRPr lang="en-US" sz="1200" dirty="0"/>
          </a:p>
        </p:txBody>
      </p:sp>
      <p:sp>
        <p:nvSpPr>
          <p:cNvPr id="19" name="Shape 17"/>
          <p:cNvSpPr/>
          <p:nvPr/>
        </p:nvSpPr>
        <p:spPr>
          <a:xfrm>
            <a:off x="6126480" y="1097280"/>
            <a:ext cx="2743200" cy="3657600"/>
          </a:xfrm>
          <a:prstGeom prst="rect">
            <a:avLst/>
          </a:prstGeom>
          <a:solidFill>
            <a:srgbClr val="E8F5EE"/>
          </a:solidFill>
          <a:ln w="6350">
            <a:solidFill>
              <a:srgbClr val="D0C0E0"/>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6126480" y="1097280"/>
            <a:ext cx="2743200" cy="411480"/>
          </a:xfrm>
          <a:prstGeom prst="rect">
            <a:avLst/>
          </a:prstGeom>
          <a:solidFill>
            <a:srgbClr val="1A4D2E"/>
          </a:solidFill>
          <a:ln w="12700">
            <a:solidFill>
              <a:srgbClr val="1A4D2E"/>
            </a:solidFill>
            <a:prstDash val="solid"/>
          </a:ln>
        </p:spPr>
      </p:sp>
      <p:sp>
        <p:nvSpPr>
          <p:cNvPr id="21" name="Text 19"/>
          <p:cNvSpPr/>
          <p:nvPr/>
        </p:nvSpPr>
        <p:spPr>
          <a:xfrm>
            <a:off x="6217920" y="1115568"/>
            <a:ext cx="2560320" cy="365760"/>
          </a:xfrm>
          <a:prstGeom prst="rect">
            <a:avLst/>
          </a:prstGeom>
          <a:noFill/>
          <a:ln/>
        </p:spPr>
        <p:txBody>
          <a:bodyPr wrap="square" lIns="63500" tIns="63500" rIns="63500" bIns="635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Movement III</a:t>
            </a:r>
            <a:endParaRPr lang="en-US" sz="1100" dirty="0"/>
          </a:p>
        </p:txBody>
      </p:sp>
      <p:sp>
        <p:nvSpPr>
          <p:cNvPr id="22" name="Text 20"/>
          <p:cNvSpPr/>
          <p:nvPr/>
        </p:nvSpPr>
        <p:spPr>
          <a:xfrm>
            <a:off x="6263640" y="1600200"/>
            <a:ext cx="2468880" cy="640080"/>
          </a:xfrm>
          <a:prstGeom prst="rect">
            <a:avLst/>
          </a:prstGeom>
          <a:noFill/>
          <a:ln/>
        </p:spPr>
        <p:txBody>
          <a:bodyPr wrap="square" rtlCol="0" anchor="ctr"/>
          <a:lstStyle/>
          <a:p>
            <a:pPr algn="l" indent="0" marL="0">
              <a:buNone/>
            </a:pPr>
            <a:r>
              <a:rPr lang="en-US" sz="1500" b="1" dirty="0">
                <a:solidFill>
                  <a:srgbClr val="1A4D2E"/>
                </a:solidFill>
                <a:latin typeface="Georgia" pitchFamily="34" charset="0"/>
                <a:ea typeface="Georgia" pitchFamily="34" charset="-122"/>
                <a:cs typeface="Georgia" pitchFamily="34" charset="-120"/>
              </a:rPr>
              <a:t>The Tension Is the Spiritual Life</a:t>
            </a:r>
            <a:endParaRPr lang="en-US" sz="1500" dirty="0"/>
          </a:p>
        </p:txBody>
      </p:sp>
      <p:sp>
        <p:nvSpPr>
          <p:cNvPr id="23" name="Shape 21"/>
          <p:cNvSpPr/>
          <p:nvPr/>
        </p:nvSpPr>
        <p:spPr>
          <a:xfrm>
            <a:off x="6263640" y="2331720"/>
            <a:ext cx="1371600" cy="256032"/>
          </a:xfrm>
          <a:prstGeom prst="rect">
            <a:avLst/>
          </a:prstGeom>
          <a:solidFill>
            <a:srgbClr val="C9963A"/>
          </a:solidFill>
          <a:ln w="12700">
            <a:solidFill>
              <a:srgbClr val="C9963A"/>
            </a:solidFill>
            <a:prstDash val="solid"/>
          </a:ln>
        </p:spPr>
      </p:sp>
      <p:sp>
        <p:nvSpPr>
          <p:cNvPr id="24" name="Text 22"/>
          <p:cNvSpPr/>
          <p:nvPr/>
        </p:nvSpPr>
        <p:spPr>
          <a:xfrm>
            <a:off x="6263640" y="2331720"/>
            <a:ext cx="137160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John 11:32–44</a:t>
            </a:r>
            <a:endParaRPr lang="en-US" sz="1000" dirty="0"/>
          </a:p>
        </p:txBody>
      </p:sp>
      <p:sp>
        <p:nvSpPr>
          <p:cNvPr id="25" name="Text 23"/>
          <p:cNvSpPr/>
          <p:nvPr/>
        </p:nvSpPr>
        <p:spPr>
          <a:xfrm>
            <a:off x="6263640" y="2697480"/>
            <a:ext cx="2468880" cy="1920240"/>
          </a:xfrm>
          <a:prstGeom prst="rect">
            <a:avLst/>
          </a:prstGeom>
          <a:noFill/>
          <a:ln/>
        </p:spPr>
        <p:txBody>
          <a:bodyPr wrap="square" rtlCol="0" anchor="t"/>
          <a:lstStyle/>
          <a:p>
            <a:pPr algn="l" indent="0" marL="0">
              <a:buNone/>
            </a:pPr>
            <a:r>
              <a:rPr lang="en-US" sz="1200" dirty="0">
                <a:solidFill>
                  <a:srgbClr val="231340"/>
                </a:solidFill>
                <a:latin typeface="Calibri" pitchFamily="34" charset="0"/>
                <a:ea typeface="Calibri" pitchFamily="34" charset="-122"/>
                <a:cs typeface="Calibri" pitchFamily="34" charset="-120"/>
              </a:rPr>
              <a:t>Jesus wept at Lazarus's tomb -- even knowing what he was about to do. He doesn't skip the grief. Being Easter people means we are called to grieve fully while trusting ultimately.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B1F5E"/>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Key Theological Anchors</a:t>
            </a:r>
            <a:endParaRPr lang="en-US" sz="3000" dirty="0"/>
          </a:p>
        </p:txBody>
      </p:sp>
      <p:sp>
        <p:nvSpPr>
          <p:cNvPr id="3" name="Shape 1"/>
          <p:cNvSpPr/>
          <p:nvPr/>
        </p:nvSpPr>
        <p:spPr>
          <a:xfrm>
            <a:off x="457200" y="868680"/>
            <a:ext cx="8229600" cy="36576"/>
          </a:xfrm>
          <a:prstGeom prst="rect">
            <a:avLst/>
          </a:prstGeom>
          <a:solidFill>
            <a:srgbClr val="C9963A"/>
          </a:solidFill>
          <a:ln w="12700">
            <a:solidFill>
              <a:srgbClr val="C9963A"/>
            </a:solidFill>
            <a:prstDash val="solid"/>
          </a:ln>
        </p:spPr>
      </p:sp>
      <p:sp>
        <p:nvSpPr>
          <p:cNvPr id="4" name="Shape 2"/>
          <p:cNvSpPr/>
          <p:nvPr/>
        </p:nvSpPr>
        <p:spPr>
          <a:xfrm>
            <a:off x="365760" y="1051560"/>
            <a:ext cx="8412480" cy="804672"/>
          </a:xfrm>
          <a:prstGeom prst="rect">
            <a:avLst/>
          </a:prstGeom>
          <a:solidFill>
            <a:srgbClr val="4A2870"/>
          </a:solidFill>
          <a:ln w="6350">
            <a:solidFill>
              <a:srgbClr val="6B4399"/>
            </a:solidFill>
            <a:prstDash val="solid"/>
          </a:ln>
        </p:spPr>
      </p:sp>
      <p:sp>
        <p:nvSpPr>
          <p:cNvPr id="5" name="Shape 3"/>
          <p:cNvSpPr/>
          <p:nvPr/>
        </p:nvSpPr>
        <p:spPr>
          <a:xfrm>
            <a:off x="365760" y="1051560"/>
            <a:ext cx="54864" cy="804672"/>
          </a:xfrm>
          <a:prstGeom prst="rect">
            <a:avLst/>
          </a:prstGeom>
          <a:solidFill>
            <a:srgbClr val="C9963A"/>
          </a:solidFill>
          <a:ln w="12700">
            <a:solidFill>
              <a:srgbClr val="C9963A"/>
            </a:solidFill>
            <a:prstDash val="solid"/>
          </a:ln>
        </p:spPr>
      </p:sp>
      <p:sp>
        <p:nvSpPr>
          <p:cNvPr id="6" name="Text 4"/>
          <p:cNvSpPr/>
          <p:nvPr/>
        </p:nvSpPr>
        <p:spPr>
          <a:xfrm>
            <a:off x="594360" y="1088136"/>
            <a:ext cx="2560320" cy="320040"/>
          </a:xfrm>
          <a:prstGeom prst="rect">
            <a:avLst/>
          </a:prstGeom>
          <a:noFill/>
          <a:ln/>
        </p:spPr>
        <p:txBody>
          <a:bodyPr wrap="square" lIns="0" tIns="0" rIns="0" bIns="0" rtlCol="0" anchor="ctr"/>
          <a:lstStyle/>
          <a:p>
            <a:pPr algn="l" indent="0" marL="0">
              <a:buNone/>
            </a:pPr>
            <a:r>
              <a:rPr lang="en-US" sz="1300" b="1" dirty="0">
                <a:solidFill>
                  <a:srgbClr val="F0D080"/>
                </a:solidFill>
                <a:latin typeface="Georgia" pitchFamily="34" charset="0"/>
                <a:ea typeface="Georgia" pitchFamily="34" charset="-122"/>
                <a:cs typeface="Georgia" pitchFamily="34" charset="-120"/>
              </a:rPr>
              <a:t>Lament Is Liturgical</a:t>
            </a:r>
            <a:endParaRPr lang="en-US" sz="1300" dirty="0"/>
          </a:p>
        </p:txBody>
      </p:sp>
      <p:sp>
        <p:nvSpPr>
          <p:cNvPr id="7" name="Text 5"/>
          <p:cNvSpPr/>
          <p:nvPr/>
        </p:nvSpPr>
        <p:spPr>
          <a:xfrm>
            <a:off x="3291840" y="1088136"/>
            <a:ext cx="5303520" cy="731520"/>
          </a:xfrm>
          <a:prstGeom prst="rect">
            <a:avLst/>
          </a:prstGeom>
          <a:noFill/>
          <a:ln/>
        </p:spPr>
        <p:txBody>
          <a:bodyPr wrap="square" rtlCol="0" anchor="ctr"/>
          <a:lstStyle/>
          <a:p>
            <a:pPr algn="l" indent="0" marL="0">
              <a:buNone/>
            </a:pPr>
            <a:r>
              <a:rPr lang="en-US" sz="1200" dirty="0">
                <a:solidFill>
                  <a:srgbClr val="D8C8F0"/>
                </a:solidFill>
                <a:latin typeface="Calibri" pitchFamily="34" charset="0"/>
                <a:ea typeface="Calibri" pitchFamily="34" charset="-122"/>
                <a:cs typeface="Calibri" pitchFamily="34" charset="-120"/>
              </a:rPr>
              <a:t>The Psalms of lament -- including Psalm 22, which Jesus quotes from the cross -- show us that bringing raw grief to God is not a failure of faith. It is faith.</a:t>
            </a:r>
            <a:endParaRPr lang="en-US" sz="1200" dirty="0"/>
          </a:p>
        </p:txBody>
      </p:sp>
      <p:sp>
        <p:nvSpPr>
          <p:cNvPr id="8" name="Shape 6"/>
          <p:cNvSpPr/>
          <p:nvPr/>
        </p:nvSpPr>
        <p:spPr>
          <a:xfrm>
            <a:off x="3200400" y="1124712"/>
            <a:ext cx="36576" cy="658368"/>
          </a:xfrm>
          <a:prstGeom prst="rect">
            <a:avLst/>
          </a:prstGeom>
          <a:solidFill>
            <a:srgbClr val="C9963A">
              <a:alpha val="50000"/>
            </a:srgbClr>
          </a:solidFill>
          <a:ln w="12700">
            <a:solidFill>
              <a:srgbClr val="C9963A">
                <a:alpha val="50000"/>
              </a:srgbClr>
            </a:solidFill>
            <a:prstDash val="solid"/>
          </a:ln>
        </p:spPr>
      </p:sp>
      <p:sp>
        <p:nvSpPr>
          <p:cNvPr id="9" name="Shape 7"/>
          <p:cNvSpPr/>
          <p:nvPr/>
        </p:nvSpPr>
        <p:spPr>
          <a:xfrm>
            <a:off x="365760" y="2011680"/>
            <a:ext cx="8412480" cy="804672"/>
          </a:xfrm>
          <a:prstGeom prst="rect">
            <a:avLst/>
          </a:prstGeom>
          <a:solidFill>
            <a:srgbClr val="4A2870"/>
          </a:solidFill>
          <a:ln w="6350">
            <a:solidFill>
              <a:srgbClr val="6B4399"/>
            </a:solidFill>
            <a:prstDash val="solid"/>
          </a:ln>
        </p:spPr>
      </p:sp>
      <p:sp>
        <p:nvSpPr>
          <p:cNvPr id="10" name="Shape 8"/>
          <p:cNvSpPr/>
          <p:nvPr/>
        </p:nvSpPr>
        <p:spPr>
          <a:xfrm>
            <a:off x="365760" y="2011680"/>
            <a:ext cx="54864" cy="804672"/>
          </a:xfrm>
          <a:prstGeom prst="rect">
            <a:avLst/>
          </a:prstGeom>
          <a:solidFill>
            <a:srgbClr val="C9963A"/>
          </a:solidFill>
          <a:ln w="12700">
            <a:solidFill>
              <a:srgbClr val="C9963A"/>
            </a:solidFill>
            <a:prstDash val="solid"/>
          </a:ln>
        </p:spPr>
      </p:sp>
      <p:sp>
        <p:nvSpPr>
          <p:cNvPr id="11" name="Text 9"/>
          <p:cNvSpPr/>
          <p:nvPr/>
        </p:nvSpPr>
        <p:spPr>
          <a:xfrm>
            <a:off x="594360" y="2048256"/>
            <a:ext cx="2560320" cy="320040"/>
          </a:xfrm>
          <a:prstGeom prst="rect">
            <a:avLst/>
          </a:prstGeom>
          <a:noFill/>
          <a:ln/>
        </p:spPr>
        <p:txBody>
          <a:bodyPr wrap="square" lIns="0" tIns="0" rIns="0" bIns="0" rtlCol="0" anchor="ctr"/>
          <a:lstStyle/>
          <a:p>
            <a:pPr algn="l" indent="0" marL="0">
              <a:buNone/>
            </a:pPr>
            <a:r>
              <a:rPr lang="en-US" sz="1300" b="1" dirty="0">
                <a:solidFill>
                  <a:srgbClr val="F0D080"/>
                </a:solidFill>
                <a:latin typeface="Georgia" pitchFamily="34" charset="0"/>
                <a:ea typeface="Georgia" pitchFamily="34" charset="-122"/>
                <a:cs typeface="Georgia" pitchFamily="34" charset="-120"/>
              </a:rPr>
              <a:t>Hope Is Not Optimism</a:t>
            </a:r>
            <a:endParaRPr lang="en-US" sz="1300" dirty="0"/>
          </a:p>
        </p:txBody>
      </p:sp>
      <p:sp>
        <p:nvSpPr>
          <p:cNvPr id="12" name="Text 10"/>
          <p:cNvSpPr/>
          <p:nvPr/>
        </p:nvSpPr>
        <p:spPr>
          <a:xfrm>
            <a:off x="3291840" y="2048256"/>
            <a:ext cx="5303520" cy="731520"/>
          </a:xfrm>
          <a:prstGeom prst="rect">
            <a:avLst/>
          </a:prstGeom>
          <a:noFill/>
          <a:ln/>
        </p:spPr>
        <p:txBody>
          <a:bodyPr wrap="square" rtlCol="0" anchor="ctr"/>
          <a:lstStyle/>
          <a:p>
            <a:pPr algn="l" indent="0" marL="0">
              <a:buNone/>
            </a:pPr>
            <a:r>
              <a:rPr lang="en-US" sz="1200" dirty="0">
                <a:solidFill>
                  <a:srgbClr val="D8C8F0"/>
                </a:solidFill>
                <a:latin typeface="Calibri" pitchFamily="34" charset="0"/>
                <a:ea typeface="Calibri" pitchFamily="34" charset="-122"/>
                <a:cs typeface="Calibri" pitchFamily="34" charset="-120"/>
              </a:rPr>
              <a:t>Paul writes in Romans 8 of hope that is 'not yet seen.' This is hope with teeth -- not wishful thinking, but a theological claim about the direction of history.</a:t>
            </a:r>
            <a:endParaRPr lang="en-US" sz="1200" dirty="0"/>
          </a:p>
        </p:txBody>
      </p:sp>
      <p:sp>
        <p:nvSpPr>
          <p:cNvPr id="13" name="Shape 11"/>
          <p:cNvSpPr/>
          <p:nvPr/>
        </p:nvSpPr>
        <p:spPr>
          <a:xfrm>
            <a:off x="3200400" y="2084832"/>
            <a:ext cx="36576" cy="658368"/>
          </a:xfrm>
          <a:prstGeom prst="rect">
            <a:avLst/>
          </a:prstGeom>
          <a:solidFill>
            <a:srgbClr val="C9963A">
              <a:alpha val="50000"/>
            </a:srgbClr>
          </a:solidFill>
          <a:ln w="12700">
            <a:solidFill>
              <a:srgbClr val="C9963A">
                <a:alpha val="50000"/>
              </a:srgbClr>
            </a:solidFill>
            <a:prstDash val="solid"/>
          </a:ln>
        </p:spPr>
      </p:sp>
      <p:sp>
        <p:nvSpPr>
          <p:cNvPr id="14" name="Shape 12"/>
          <p:cNvSpPr/>
          <p:nvPr/>
        </p:nvSpPr>
        <p:spPr>
          <a:xfrm>
            <a:off x="365760" y="2971800"/>
            <a:ext cx="8412480" cy="804672"/>
          </a:xfrm>
          <a:prstGeom prst="rect">
            <a:avLst/>
          </a:prstGeom>
          <a:solidFill>
            <a:srgbClr val="4A2870"/>
          </a:solidFill>
          <a:ln w="6350">
            <a:solidFill>
              <a:srgbClr val="6B4399"/>
            </a:solidFill>
            <a:prstDash val="solid"/>
          </a:ln>
        </p:spPr>
      </p:sp>
      <p:sp>
        <p:nvSpPr>
          <p:cNvPr id="15" name="Shape 13"/>
          <p:cNvSpPr/>
          <p:nvPr/>
        </p:nvSpPr>
        <p:spPr>
          <a:xfrm>
            <a:off x="365760" y="2971800"/>
            <a:ext cx="54864" cy="804672"/>
          </a:xfrm>
          <a:prstGeom prst="rect">
            <a:avLst/>
          </a:prstGeom>
          <a:solidFill>
            <a:srgbClr val="C9963A"/>
          </a:solidFill>
          <a:ln w="12700">
            <a:solidFill>
              <a:srgbClr val="C9963A"/>
            </a:solidFill>
            <a:prstDash val="solid"/>
          </a:ln>
        </p:spPr>
      </p:sp>
      <p:sp>
        <p:nvSpPr>
          <p:cNvPr id="16" name="Text 14"/>
          <p:cNvSpPr/>
          <p:nvPr/>
        </p:nvSpPr>
        <p:spPr>
          <a:xfrm>
            <a:off x="594360" y="3008376"/>
            <a:ext cx="2560320" cy="320040"/>
          </a:xfrm>
          <a:prstGeom prst="rect">
            <a:avLst/>
          </a:prstGeom>
          <a:noFill/>
          <a:ln/>
        </p:spPr>
        <p:txBody>
          <a:bodyPr wrap="square" lIns="0" tIns="0" rIns="0" bIns="0" rtlCol="0" anchor="ctr"/>
          <a:lstStyle/>
          <a:p>
            <a:pPr algn="l" indent="0" marL="0">
              <a:buNone/>
            </a:pPr>
            <a:r>
              <a:rPr lang="en-US" sz="1300" b="1" dirty="0">
                <a:solidFill>
                  <a:srgbClr val="F0D080"/>
                </a:solidFill>
                <a:latin typeface="Georgia" pitchFamily="34" charset="0"/>
                <a:ea typeface="Georgia" pitchFamily="34" charset="-122"/>
                <a:cs typeface="Georgia" pitchFamily="34" charset="-120"/>
              </a:rPr>
              <a:t>Resurrection Keeps the Wounds</a:t>
            </a:r>
            <a:endParaRPr lang="en-US" sz="1300" dirty="0"/>
          </a:p>
        </p:txBody>
      </p:sp>
      <p:sp>
        <p:nvSpPr>
          <p:cNvPr id="17" name="Text 15"/>
          <p:cNvSpPr/>
          <p:nvPr/>
        </p:nvSpPr>
        <p:spPr>
          <a:xfrm>
            <a:off x="3291840" y="3008376"/>
            <a:ext cx="5303520" cy="731520"/>
          </a:xfrm>
          <a:prstGeom prst="rect">
            <a:avLst/>
          </a:prstGeom>
          <a:noFill/>
          <a:ln/>
        </p:spPr>
        <p:txBody>
          <a:bodyPr wrap="square" rtlCol="0" anchor="ctr"/>
          <a:lstStyle/>
          <a:p>
            <a:pPr algn="l" indent="0" marL="0">
              <a:buNone/>
            </a:pPr>
            <a:r>
              <a:rPr lang="en-US" sz="1200" dirty="0">
                <a:solidFill>
                  <a:srgbClr val="D8C8F0"/>
                </a:solidFill>
                <a:latin typeface="Calibri" pitchFamily="34" charset="0"/>
                <a:ea typeface="Calibri" pitchFamily="34" charset="-122"/>
                <a:cs typeface="Calibri" pitchFamily="34" charset="-120"/>
              </a:rPr>
              <a:t>The risen Christ shows Thomas his hands and side. Easter does not erase suffering; it transforms it. Our scars are not erased -- they are held differently.</a:t>
            </a:r>
            <a:endParaRPr lang="en-US" sz="1200" dirty="0"/>
          </a:p>
        </p:txBody>
      </p:sp>
      <p:sp>
        <p:nvSpPr>
          <p:cNvPr id="18" name="Shape 16"/>
          <p:cNvSpPr/>
          <p:nvPr/>
        </p:nvSpPr>
        <p:spPr>
          <a:xfrm>
            <a:off x="3200400" y="3044952"/>
            <a:ext cx="36576" cy="658368"/>
          </a:xfrm>
          <a:prstGeom prst="rect">
            <a:avLst/>
          </a:prstGeom>
          <a:solidFill>
            <a:srgbClr val="C9963A">
              <a:alpha val="50000"/>
            </a:srgbClr>
          </a:solidFill>
          <a:ln w="12700">
            <a:solidFill>
              <a:srgbClr val="C9963A">
                <a:alpha val="50000"/>
              </a:srgbClr>
            </a:solidFill>
            <a:prstDash val="solid"/>
          </a:ln>
        </p:spPr>
      </p:sp>
      <p:sp>
        <p:nvSpPr>
          <p:cNvPr id="19" name="Shape 17"/>
          <p:cNvSpPr/>
          <p:nvPr/>
        </p:nvSpPr>
        <p:spPr>
          <a:xfrm>
            <a:off x="365760" y="3931920"/>
            <a:ext cx="8412480" cy="804672"/>
          </a:xfrm>
          <a:prstGeom prst="rect">
            <a:avLst/>
          </a:prstGeom>
          <a:solidFill>
            <a:srgbClr val="4A2870"/>
          </a:solidFill>
          <a:ln w="6350">
            <a:solidFill>
              <a:srgbClr val="6B4399"/>
            </a:solidFill>
            <a:prstDash val="solid"/>
          </a:ln>
        </p:spPr>
      </p:sp>
      <p:sp>
        <p:nvSpPr>
          <p:cNvPr id="20" name="Shape 18"/>
          <p:cNvSpPr/>
          <p:nvPr/>
        </p:nvSpPr>
        <p:spPr>
          <a:xfrm>
            <a:off x="365760" y="3931920"/>
            <a:ext cx="54864" cy="804672"/>
          </a:xfrm>
          <a:prstGeom prst="rect">
            <a:avLst/>
          </a:prstGeom>
          <a:solidFill>
            <a:srgbClr val="C9963A"/>
          </a:solidFill>
          <a:ln w="12700">
            <a:solidFill>
              <a:srgbClr val="C9963A"/>
            </a:solidFill>
            <a:prstDash val="solid"/>
          </a:ln>
        </p:spPr>
      </p:sp>
      <p:sp>
        <p:nvSpPr>
          <p:cNvPr id="21" name="Text 19"/>
          <p:cNvSpPr/>
          <p:nvPr/>
        </p:nvSpPr>
        <p:spPr>
          <a:xfrm>
            <a:off x="594360" y="3968496"/>
            <a:ext cx="2560320" cy="320040"/>
          </a:xfrm>
          <a:prstGeom prst="rect">
            <a:avLst/>
          </a:prstGeom>
          <a:noFill/>
          <a:ln/>
        </p:spPr>
        <p:txBody>
          <a:bodyPr wrap="square" lIns="0" tIns="0" rIns="0" bIns="0" rtlCol="0" anchor="ctr"/>
          <a:lstStyle/>
          <a:p>
            <a:pPr algn="l" indent="0" marL="0">
              <a:buNone/>
            </a:pPr>
            <a:r>
              <a:rPr lang="en-US" sz="1300" b="1" dirty="0">
                <a:solidFill>
                  <a:srgbClr val="F0D080"/>
                </a:solidFill>
                <a:latin typeface="Georgia" pitchFamily="34" charset="0"/>
                <a:ea typeface="Georgia" pitchFamily="34" charset="-122"/>
                <a:cs typeface="Georgia" pitchFamily="34" charset="-120"/>
              </a:rPr>
              <a:t>Via Media -- The Episcopal Way</a:t>
            </a:r>
            <a:endParaRPr lang="en-US" sz="1300" dirty="0"/>
          </a:p>
        </p:txBody>
      </p:sp>
      <p:sp>
        <p:nvSpPr>
          <p:cNvPr id="22" name="Text 20"/>
          <p:cNvSpPr/>
          <p:nvPr/>
        </p:nvSpPr>
        <p:spPr>
          <a:xfrm>
            <a:off x="3291840" y="3968496"/>
            <a:ext cx="5303520" cy="731520"/>
          </a:xfrm>
          <a:prstGeom prst="rect">
            <a:avLst/>
          </a:prstGeom>
          <a:noFill/>
          <a:ln/>
        </p:spPr>
        <p:txBody>
          <a:bodyPr wrap="square" rtlCol="0" anchor="ctr"/>
          <a:lstStyle/>
          <a:p>
            <a:pPr algn="l" indent="0" marL="0">
              <a:buNone/>
            </a:pPr>
            <a:r>
              <a:rPr lang="en-US" sz="1200" dirty="0">
                <a:solidFill>
                  <a:srgbClr val="D8C8F0"/>
                </a:solidFill>
                <a:latin typeface="Calibri" pitchFamily="34" charset="0"/>
                <a:ea typeface="Calibri" pitchFamily="34" charset="-122"/>
                <a:cs typeface="Calibri" pitchFamily="34" charset="-120"/>
              </a:rPr>
              <a:t>Holding two truths together without collapsing either is the Anglican inheritance. Grief and hope, cross and resurrection, now and not yet.</a:t>
            </a:r>
            <a:endParaRPr lang="en-US" sz="1200" dirty="0"/>
          </a:p>
        </p:txBody>
      </p:sp>
      <p:sp>
        <p:nvSpPr>
          <p:cNvPr id="23" name="Shape 21"/>
          <p:cNvSpPr/>
          <p:nvPr/>
        </p:nvSpPr>
        <p:spPr>
          <a:xfrm>
            <a:off x="3200400" y="4005072"/>
            <a:ext cx="36576" cy="658368"/>
          </a:xfrm>
          <a:prstGeom prst="rect">
            <a:avLst/>
          </a:prstGeom>
          <a:solidFill>
            <a:srgbClr val="C9963A">
              <a:alpha val="50000"/>
            </a:srgbClr>
          </a:solidFill>
          <a:ln w="12700">
            <a:solidFill>
              <a:srgbClr val="C9963A">
                <a:alpha val="5000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3B1F5E"/>
          </a:solidFill>
          <a:ln w="12700">
            <a:solidFill>
              <a:srgbClr val="3B1F5E"/>
            </a:solidFill>
            <a:prstDash val="solid"/>
          </a:ln>
        </p:spPr>
      </p:sp>
      <p:sp>
        <p:nvSpPr>
          <p:cNvPr id="3" name="Text 1"/>
          <p:cNvSpPr/>
          <p:nvPr/>
        </p:nvSpPr>
        <p:spPr>
          <a:xfrm>
            <a:off x="365760" y="0"/>
            <a:ext cx="6858000" cy="914400"/>
          </a:xfrm>
          <a:prstGeom prst="rect">
            <a:avLst/>
          </a:prstGeom>
          <a:noFill/>
          <a:ln/>
        </p:spPr>
        <p:txBody>
          <a:bodyPr wrap="square"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Small Group Discussion</a:t>
            </a:r>
            <a:endParaRPr lang="en-US" sz="2800" dirty="0"/>
          </a:p>
        </p:txBody>
      </p:sp>
      <p:sp>
        <p:nvSpPr>
          <p:cNvPr id="4" name="Text 2"/>
          <p:cNvSpPr/>
          <p:nvPr/>
        </p:nvSpPr>
        <p:spPr>
          <a:xfrm>
            <a:off x="6858000" y="0"/>
            <a:ext cx="1920240" cy="914400"/>
          </a:xfrm>
          <a:prstGeom prst="rect">
            <a:avLst/>
          </a:prstGeom>
          <a:noFill/>
          <a:ln/>
        </p:spPr>
        <p:txBody>
          <a:bodyPr wrap="square" rtlCol="0" anchor="ctr"/>
          <a:lstStyle/>
          <a:p>
            <a:pPr algn="r" indent="0" marL="0">
              <a:buNone/>
            </a:pPr>
            <a:r>
              <a:rPr lang="en-US" sz="1200" b="1" dirty="0">
                <a:solidFill>
                  <a:srgbClr val="F0D080"/>
                </a:solidFill>
                <a:latin typeface="Calibri" pitchFamily="34" charset="0"/>
                <a:ea typeface="Calibri" pitchFamily="34" charset="-122"/>
                <a:cs typeface="Calibri" pitchFamily="34" charset="-120"/>
              </a:rPr>
              <a:t>30–48 MIN</a:t>
            </a:r>
            <a:endParaRPr lang="en-US" sz="1200" dirty="0"/>
          </a:p>
        </p:txBody>
      </p:sp>
      <p:sp>
        <p:nvSpPr>
          <p:cNvPr id="5" name="Text 3"/>
          <p:cNvSpPr/>
          <p:nvPr/>
        </p:nvSpPr>
        <p:spPr>
          <a:xfrm>
            <a:off x="365760" y="960120"/>
            <a:ext cx="8229600" cy="320040"/>
          </a:xfrm>
          <a:prstGeom prst="rect">
            <a:avLst/>
          </a:prstGeom>
          <a:noFill/>
          <a:ln/>
        </p:spPr>
        <p:txBody>
          <a:bodyPr wrap="square" rtlCol="0" anchor="ctr"/>
          <a:lstStyle/>
          <a:p>
            <a:pPr algn="l" indent="0" marL="0">
              <a:buNone/>
            </a:pPr>
            <a:r>
              <a:rPr lang="en-US" sz="1300" i="1" dirty="0">
                <a:solidFill>
                  <a:srgbClr val="6B4F8A"/>
                </a:solidFill>
                <a:latin typeface="Calibri" pitchFamily="34" charset="0"/>
                <a:ea typeface="Calibri" pitchFamily="34" charset="-122"/>
                <a:cs typeface="Calibri" pitchFamily="34" charset="-120"/>
              </a:rPr>
              <a:t>Groups of 3–4 · Choose one question and go deep</a:t>
            </a:r>
            <a:endParaRPr lang="en-US" sz="1300" dirty="0"/>
          </a:p>
        </p:txBody>
      </p:sp>
      <p:sp>
        <p:nvSpPr>
          <p:cNvPr id="6" name="Shape 4"/>
          <p:cNvSpPr/>
          <p:nvPr/>
        </p:nvSpPr>
        <p:spPr>
          <a:xfrm>
            <a:off x="320040" y="1371600"/>
            <a:ext cx="8503920" cy="768096"/>
          </a:xfrm>
          <a:prstGeom prst="rect">
            <a:avLst/>
          </a:prstGeom>
          <a:solidFill>
            <a:srgbClr val="FFFFFF"/>
          </a:solidFill>
          <a:ln w="6350">
            <a:solidFill>
              <a:srgbClr val="D8C8E8"/>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411480" y="1481328"/>
            <a:ext cx="502920" cy="502920"/>
          </a:xfrm>
          <a:prstGeom prst="ellipse">
            <a:avLst/>
          </a:prstGeom>
          <a:solidFill>
            <a:srgbClr val="3B1F5E"/>
          </a:solidFill>
          <a:ln w="12700">
            <a:solidFill>
              <a:srgbClr val="3B1F5E"/>
            </a:solidFill>
            <a:prstDash val="solid"/>
          </a:ln>
        </p:spPr>
      </p:sp>
      <p:sp>
        <p:nvSpPr>
          <p:cNvPr id="8" name="Text 6"/>
          <p:cNvSpPr/>
          <p:nvPr/>
        </p:nvSpPr>
        <p:spPr>
          <a:xfrm>
            <a:off x="411480" y="1481328"/>
            <a:ext cx="502920" cy="50292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9" name="Text 7"/>
          <p:cNvSpPr/>
          <p:nvPr/>
        </p:nvSpPr>
        <p:spPr>
          <a:xfrm>
            <a:off x="1078992" y="1463040"/>
            <a:ext cx="7589520" cy="594360"/>
          </a:xfrm>
          <a:prstGeom prst="rect">
            <a:avLst/>
          </a:prstGeom>
          <a:noFill/>
          <a:ln/>
        </p:spPr>
        <p:txBody>
          <a:bodyPr wrap="square" rtlCol="0" anchor="ctr"/>
          <a:lstStyle/>
          <a:p>
            <a:pPr algn="l" indent="0" marL="0">
              <a:buNone/>
            </a:pPr>
            <a:r>
              <a:rPr lang="en-US" sz="1300" dirty="0">
                <a:solidFill>
                  <a:srgbClr val="231340"/>
                </a:solidFill>
                <a:latin typeface="Calibri" pitchFamily="34" charset="0"/>
                <a:ea typeface="Calibri" pitchFamily="34" charset="-122"/>
                <a:cs typeface="Calibri" pitchFamily="34" charset="-120"/>
              </a:rPr>
              <a:t>Where in your life or community are you most aware of living in a Good Friday moment right now? What would it mean to bring Easter hope there -- not as a solution, but as a presence?</a:t>
            </a:r>
            <a:endParaRPr lang="en-US" sz="1300" dirty="0"/>
          </a:p>
        </p:txBody>
      </p:sp>
      <p:sp>
        <p:nvSpPr>
          <p:cNvPr id="10" name="Shape 8"/>
          <p:cNvSpPr/>
          <p:nvPr/>
        </p:nvSpPr>
        <p:spPr>
          <a:xfrm>
            <a:off x="320040" y="2267712"/>
            <a:ext cx="8503920" cy="768096"/>
          </a:xfrm>
          <a:prstGeom prst="rect">
            <a:avLst/>
          </a:prstGeom>
          <a:solidFill>
            <a:srgbClr val="F2EDF8"/>
          </a:solidFill>
          <a:ln w="6350">
            <a:solidFill>
              <a:srgbClr val="D8C8E8"/>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411480" y="2377440"/>
            <a:ext cx="502920" cy="502920"/>
          </a:xfrm>
          <a:prstGeom prst="ellipse">
            <a:avLst/>
          </a:prstGeom>
          <a:solidFill>
            <a:srgbClr val="3B1F5E"/>
          </a:solidFill>
          <a:ln w="12700">
            <a:solidFill>
              <a:srgbClr val="3B1F5E"/>
            </a:solidFill>
            <a:prstDash val="solid"/>
          </a:ln>
        </p:spPr>
      </p:sp>
      <p:sp>
        <p:nvSpPr>
          <p:cNvPr id="12" name="Text 10"/>
          <p:cNvSpPr/>
          <p:nvPr/>
        </p:nvSpPr>
        <p:spPr>
          <a:xfrm>
            <a:off x="411480" y="2377440"/>
            <a:ext cx="502920" cy="50292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78992" y="2359152"/>
            <a:ext cx="7589520" cy="594360"/>
          </a:xfrm>
          <a:prstGeom prst="rect">
            <a:avLst/>
          </a:prstGeom>
          <a:noFill/>
          <a:ln/>
        </p:spPr>
        <p:txBody>
          <a:bodyPr wrap="square" rtlCol="0" anchor="ctr"/>
          <a:lstStyle/>
          <a:p>
            <a:pPr algn="l" indent="0" marL="0">
              <a:buNone/>
            </a:pPr>
            <a:r>
              <a:rPr lang="en-US" sz="1300" dirty="0">
                <a:solidFill>
                  <a:srgbClr val="231340"/>
                </a:solidFill>
                <a:latin typeface="Calibri" pitchFamily="34" charset="0"/>
                <a:ea typeface="Calibri" pitchFamily="34" charset="-122"/>
                <a:cs typeface="Calibri" pitchFamily="34" charset="-120"/>
              </a:rPr>
              <a:t>Jesus wept at Lazarus's tomb even knowing what he was about to do. What does that tell us about how God relates to our suffering?</a:t>
            </a:r>
            <a:endParaRPr lang="en-US" sz="1300" dirty="0"/>
          </a:p>
        </p:txBody>
      </p:sp>
      <p:sp>
        <p:nvSpPr>
          <p:cNvPr id="14" name="Shape 12"/>
          <p:cNvSpPr/>
          <p:nvPr/>
        </p:nvSpPr>
        <p:spPr>
          <a:xfrm>
            <a:off x="320040" y="3163824"/>
            <a:ext cx="8503920" cy="768096"/>
          </a:xfrm>
          <a:prstGeom prst="rect">
            <a:avLst/>
          </a:prstGeom>
          <a:solidFill>
            <a:srgbClr val="FFFFFF"/>
          </a:solidFill>
          <a:ln w="6350">
            <a:solidFill>
              <a:srgbClr val="D8C8E8"/>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411480" y="3273552"/>
            <a:ext cx="502920" cy="502920"/>
          </a:xfrm>
          <a:prstGeom prst="ellipse">
            <a:avLst/>
          </a:prstGeom>
          <a:solidFill>
            <a:srgbClr val="3B1F5E"/>
          </a:solidFill>
          <a:ln w="12700">
            <a:solidFill>
              <a:srgbClr val="3B1F5E"/>
            </a:solidFill>
            <a:prstDash val="solid"/>
          </a:ln>
        </p:spPr>
      </p:sp>
      <p:sp>
        <p:nvSpPr>
          <p:cNvPr id="16" name="Text 14"/>
          <p:cNvSpPr/>
          <p:nvPr/>
        </p:nvSpPr>
        <p:spPr>
          <a:xfrm>
            <a:off x="411480" y="3273552"/>
            <a:ext cx="502920" cy="50292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7" name="Text 15"/>
          <p:cNvSpPr/>
          <p:nvPr/>
        </p:nvSpPr>
        <p:spPr>
          <a:xfrm>
            <a:off x="1078992" y="3255264"/>
            <a:ext cx="7589520" cy="594360"/>
          </a:xfrm>
          <a:prstGeom prst="rect">
            <a:avLst/>
          </a:prstGeom>
          <a:noFill/>
          <a:ln/>
        </p:spPr>
        <p:txBody>
          <a:bodyPr wrap="square" rtlCol="0" anchor="ctr"/>
          <a:lstStyle/>
          <a:p>
            <a:pPr algn="l" indent="0" marL="0">
              <a:buNone/>
            </a:pPr>
            <a:r>
              <a:rPr lang="en-US" sz="1300" dirty="0">
                <a:solidFill>
                  <a:srgbClr val="231340"/>
                </a:solidFill>
                <a:latin typeface="Calibri" pitchFamily="34" charset="0"/>
                <a:ea typeface="Calibri" pitchFamily="34" charset="-122"/>
                <a:cs typeface="Calibri" pitchFamily="34" charset="-120"/>
              </a:rPr>
              <a:t>The Episcopal tradition emphasizes via media -- holding tensions together. How is 'Easter people in a Good Friday world' an expression of that instinct?</a:t>
            </a:r>
            <a:endParaRPr lang="en-US" sz="1300" dirty="0"/>
          </a:p>
        </p:txBody>
      </p:sp>
      <p:sp>
        <p:nvSpPr>
          <p:cNvPr id="18" name="Shape 16"/>
          <p:cNvSpPr/>
          <p:nvPr/>
        </p:nvSpPr>
        <p:spPr>
          <a:xfrm>
            <a:off x="320040" y="4059936"/>
            <a:ext cx="8503920" cy="768096"/>
          </a:xfrm>
          <a:prstGeom prst="rect">
            <a:avLst/>
          </a:prstGeom>
          <a:solidFill>
            <a:srgbClr val="F2EDF8"/>
          </a:solidFill>
          <a:ln w="6350">
            <a:solidFill>
              <a:srgbClr val="D8C8E8"/>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411480" y="4169664"/>
            <a:ext cx="502920" cy="502920"/>
          </a:xfrm>
          <a:prstGeom prst="ellipse">
            <a:avLst/>
          </a:prstGeom>
          <a:solidFill>
            <a:srgbClr val="3B1F5E"/>
          </a:solidFill>
          <a:ln w="12700">
            <a:solidFill>
              <a:srgbClr val="3B1F5E"/>
            </a:solidFill>
            <a:prstDash val="solid"/>
          </a:ln>
        </p:spPr>
      </p:sp>
      <p:sp>
        <p:nvSpPr>
          <p:cNvPr id="20" name="Text 18"/>
          <p:cNvSpPr/>
          <p:nvPr/>
        </p:nvSpPr>
        <p:spPr>
          <a:xfrm>
            <a:off x="411480" y="4169664"/>
            <a:ext cx="502920" cy="50292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1" name="Text 19"/>
          <p:cNvSpPr/>
          <p:nvPr/>
        </p:nvSpPr>
        <p:spPr>
          <a:xfrm>
            <a:off x="1078992" y="4151376"/>
            <a:ext cx="7589520" cy="594360"/>
          </a:xfrm>
          <a:prstGeom prst="rect">
            <a:avLst/>
          </a:prstGeom>
          <a:noFill/>
          <a:ln/>
        </p:spPr>
        <p:txBody>
          <a:bodyPr wrap="square" rtlCol="0" anchor="ctr"/>
          <a:lstStyle/>
          <a:p>
            <a:pPr algn="l" indent="0" marL="0">
              <a:buNone/>
            </a:pPr>
            <a:r>
              <a:rPr lang="en-US" sz="1300" dirty="0">
                <a:solidFill>
                  <a:srgbClr val="231340"/>
                </a:solidFill>
                <a:latin typeface="Calibri" pitchFamily="34" charset="0"/>
                <a:ea typeface="Calibri" pitchFamily="34" charset="-122"/>
                <a:cs typeface="Calibri" pitchFamily="34" charset="-120"/>
              </a:rPr>
              <a:t>Who in your life or history models this tension well -- someone who held genuine grief and genuine hope at the same time?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B1F5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963A"/>
          </a:solidFill>
          <a:ln w="12700">
            <a:solidFill>
              <a:srgbClr val="C9963A"/>
            </a:solidFill>
            <a:prstDash val="solid"/>
          </a:ln>
        </p:spPr>
      </p:sp>
      <p:sp>
        <p:nvSpPr>
          <p:cNvPr id="3" name="Text 1"/>
          <p:cNvSpPr/>
          <p:nvPr/>
        </p:nvSpPr>
        <p:spPr>
          <a:xfrm>
            <a:off x="457200" y="228600"/>
            <a:ext cx="7315200" cy="548640"/>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Large Group Sharing</a:t>
            </a:r>
            <a:endParaRPr lang="en-US" sz="3000" dirty="0"/>
          </a:p>
        </p:txBody>
      </p:sp>
      <p:sp>
        <p:nvSpPr>
          <p:cNvPr id="4" name="Text 2"/>
          <p:cNvSpPr/>
          <p:nvPr/>
        </p:nvSpPr>
        <p:spPr>
          <a:xfrm>
            <a:off x="7772400" y="228600"/>
            <a:ext cx="1005840" cy="548640"/>
          </a:xfrm>
          <a:prstGeom prst="rect">
            <a:avLst/>
          </a:prstGeom>
          <a:noFill/>
          <a:ln/>
        </p:spPr>
        <p:txBody>
          <a:bodyPr wrap="square" rtlCol="0" anchor="ctr"/>
          <a:lstStyle/>
          <a:p>
            <a:pPr algn="r" indent="0" marL="0">
              <a:buNone/>
            </a:pPr>
            <a:r>
              <a:rPr lang="en-US" sz="1200" b="1" dirty="0">
                <a:solidFill>
                  <a:srgbClr val="F0D080"/>
                </a:solidFill>
                <a:latin typeface="Calibri" pitchFamily="34" charset="0"/>
                <a:ea typeface="Calibri" pitchFamily="34" charset="-122"/>
                <a:cs typeface="Calibri" pitchFamily="34" charset="-120"/>
              </a:rPr>
              <a:t>48–55 MIN</a:t>
            </a:r>
            <a:endParaRPr lang="en-US" sz="1200" dirty="0"/>
          </a:p>
        </p:txBody>
      </p:sp>
      <p:sp>
        <p:nvSpPr>
          <p:cNvPr id="5" name="Shape 3"/>
          <p:cNvSpPr/>
          <p:nvPr/>
        </p:nvSpPr>
        <p:spPr>
          <a:xfrm>
            <a:off x="457200" y="868680"/>
            <a:ext cx="8229600" cy="36576"/>
          </a:xfrm>
          <a:prstGeom prst="rect">
            <a:avLst/>
          </a:prstGeom>
          <a:solidFill>
            <a:srgbClr val="C9963A"/>
          </a:solidFill>
          <a:ln w="12700">
            <a:solidFill>
              <a:srgbClr val="C9963A"/>
            </a:solidFill>
            <a:prstDash val="solid"/>
          </a:ln>
        </p:spPr>
      </p:sp>
      <p:sp>
        <p:nvSpPr>
          <p:cNvPr id="6" name="Text 4"/>
          <p:cNvSpPr/>
          <p:nvPr/>
        </p:nvSpPr>
        <p:spPr>
          <a:xfrm>
            <a:off x="457200" y="1005840"/>
            <a:ext cx="8229600" cy="365760"/>
          </a:xfrm>
          <a:prstGeom prst="rect">
            <a:avLst/>
          </a:prstGeom>
          <a:noFill/>
          <a:ln/>
        </p:spPr>
        <p:txBody>
          <a:bodyPr wrap="square" rtlCol="0" anchor="ctr"/>
          <a:lstStyle/>
          <a:p>
            <a:pPr algn="l" indent="0" marL="0">
              <a:buNone/>
            </a:pPr>
            <a:r>
              <a:rPr lang="en-US" sz="1500" i="1" dirty="0">
                <a:solidFill>
                  <a:srgbClr val="C9A8E0"/>
                </a:solidFill>
                <a:latin typeface="Calibri" pitchFamily="34" charset="0"/>
                <a:ea typeface="Calibri" pitchFamily="34" charset="-122"/>
                <a:cs typeface="Calibri" pitchFamily="34" charset="-120"/>
              </a:rPr>
              <a:t>One insight from each group</a:t>
            </a:r>
            <a:endParaRPr lang="en-US" sz="1500" dirty="0"/>
          </a:p>
        </p:txBody>
      </p:sp>
      <p:sp>
        <p:nvSpPr>
          <p:cNvPr id="7" name="Shape 5"/>
          <p:cNvSpPr/>
          <p:nvPr/>
        </p:nvSpPr>
        <p:spPr>
          <a:xfrm>
            <a:off x="457200" y="1463040"/>
            <a:ext cx="8229600" cy="1371600"/>
          </a:xfrm>
          <a:prstGeom prst="rect">
            <a:avLst/>
          </a:prstGeom>
          <a:solidFill>
            <a:srgbClr val="4A2870"/>
          </a:solidFill>
          <a:ln w="6350">
            <a:solidFill>
              <a:srgbClr val="7B4FB8"/>
            </a:solidFill>
            <a:prstDash val="solid"/>
          </a:ln>
        </p:spPr>
      </p:sp>
      <p:sp>
        <p:nvSpPr>
          <p:cNvPr id="8" name="Shape 6"/>
          <p:cNvSpPr/>
          <p:nvPr/>
        </p:nvSpPr>
        <p:spPr>
          <a:xfrm>
            <a:off x="457200" y="1463040"/>
            <a:ext cx="54864" cy="1371600"/>
          </a:xfrm>
          <a:prstGeom prst="rect">
            <a:avLst/>
          </a:prstGeom>
          <a:solidFill>
            <a:srgbClr val="C9963A"/>
          </a:solidFill>
          <a:ln w="12700">
            <a:solidFill>
              <a:srgbClr val="C9963A"/>
            </a:solidFill>
            <a:prstDash val="solid"/>
          </a:ln>
        </p:spPr>
      </p:sp>
      <p:sp>
        <p:nvSpPr>
          <p:cNvPr id="9" name="Text 7"/>
          <p:cNvSpPr/>
          <p:nvPr/>
        </p:nvSpPr>
        <p:spPr>
          <a:xfrm>
            <a:off x="640080" y="1536192"/>
            <a:ext cx="7863840" cy="274320"/>
          </a:xfrm>
          <a:prstGeom prst="rect">
            <a:avLst/>
          </a:prstGeom>
          <a:noFill/>
          <a:ln/>
        </p:spPr>
        <p:txBody>
          <a:bodyPr wrap="square" rtlCol="0" anchor="ctr"/>
          <a:lstStyle/>
          <a:p>
            <a:pPr algn="l" indent="0" marL="0">
              <a:buNone/>
            </a:pPr>
            <a:r>
              <a:rPr lang="en-US" sz="1300" b="1" dirty="0">
                <a:solidFill>
                  <a:srgbClr val="F0D080"/>
                </a:solidFill>
                <a:latin typeface="Calibri" pitchFamily="34" charset="0"/>
                <a:ea typeface="Calibri" pitchFamily="34" charset="-122"/>
                <a:cs typeface="Calibri" pitchFamily="34" charset="-120"/>
              </a:rPr>
              <a:t>Facilitator Note</a:t>
            </a:r>
            <a:endParaRPr lang="en-US" sz="1300" dirty="0"/>
          </a:p>
        </p:txBody>
      </p:sp>
      <p:sp>
        <p:nvSpPr>
          <p:cNvPr id="10" name="Text 8"/>
          <p:cNvSpPr/>
          <p:nvPr/>
        </p:nvSpPr>
        <p:spPr>
          <a:xfrm>
            <a:off x="640080" y="1856232"/>
            <a:ext cx="7863840" cy="914400"/>
          </a:xfrm>
          <a:prstGeom prst="rect">
            <a:avLst/>
          </a:prstGeom>
          <a:noFill/>
          <a:ln/>
        </p:spPr>
        <p:txBody>
          <a:bodyPr wrap="square" rtlCol="0" anchor="ctr"/>
          <a:lstStyle/>
          <a:p>
            <a:pPr algn="l" indent="0" marL="0">
              <a:buNone/>
            </a:pPr>
            <a:r>
              <a:rPr lang="en-US" sz="1300" dirty="0">
                <a:solidFill>
                  <a:srgbClr val="D0B8F0"/>
                </a:solidFill>
                <a:latin typeface="Calibri" pitchFamily="34" charset="0"/>
                <a:ea typeface="Calibri" pitchFamily="34" charset="-122"/>
                <a:cs typeface="Calibri" pitchFamily="34" charset="-120"/>
              </a:rPr>
              <a:t>Listen for threads that connect responses. Weave a brief synthesis. Land on the truth that Lent is the church's annual practice of being honest enough to sit with Good Friday -- so that when Easter comes, it arrives as truth rather than performance.</a:t>
            </a:r>
            <a:endParaRPr lang="en-US" sz="1300" dirty="0"/>
          </a:p>
        </p:txBody>
      </p:sp>
      <p:sp>
        <p:nvSpPr>
          <p:cNvPr id="11" name="Text 9"/>
          <p:cNvSpPr/>
          <p:nvPr/>
        </p:nvSpPr>
        <p:spPr>
          <a:xfrm>
            <a:off x="640080" y="3063240"/>
            <a:ext cx="7863840" cy="1645920"/>
          </a:xfrm>
          <a:prstGeom prst="rect">
            <a:avLst/>
          </a:prstGeom>
          <a:noFill/>
          <a:ln/>
        </p:spPr>
        <p:txBody>
          <a:bodyPr wrap="square" rtlCol="0" anchor="ctr"/>
          <a:lstStyle/>
          <a:p>
            <a:pPr algn="ctr" indent="0" marL="0">
              <a:buNone/>
            </a:pPr>
            <a:r>
              <a:rPr lang="en-US" sz="2000" i="1" dirty="0">
                <a:solidFill>
                  <a:srgbClr val="FFFFFF"/>
                </a:solidFill>
                <a:latin typeface="Georgia" pitchFamily="34" charset="0"/>
                <a:ea typeface="Georgia" pitchFamily="34" charset="-122"/>
                <a:cs typeface="Georgia" pitchFamily="34" charset="-120"/>
              </a:rPr>
              <a:t>Lent is the church's annual practice of being honest enough to sit with Good Friday -- so that when Easter comes, it arrives as truth rather than performance.</a:t>
            </a:r>
            <a:endParaRPr lang="en-US" sz="2000" dirty="0"/>
          </a:p>
        </p:txBody>
      </p:sp>
      <p:sp>
        <p:nvSpPr>
          <p:cNvPr id="12" name="Shape 10"/>
          <p:cNvSpPr/>
          <p:nvPr/>
        </p:nvSpPr>
        <p:spPr>
          <a:xfrm>
            <a:off x="0" y="5070348"/>
            <a:ext cx="9144000" cy="73152"/>
          </a:xfrm>
          <a:prstGeom prst="rect">
            <a:avLst/>
          </a:prstGeom>
          <a:solidFill>
            <a:srgbClr val="C9963A"/>
          </a:solidFill>
          <a:ln w="12700">
            <a:solidFill>
              <a:srgbClr val="C9963A"/>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3B1F5E"/>
          </a:solidFill>
          <a:ln w="12700">
            <a:solidFill>
              <a:srgbClr val="3B1F5E"/>
            </a:solidFill>
            <a:prstDash val="solid"/>
          </a:ln>
        </p:spPr>
      </p:sp>
      <p:sp>
        <p:nvSpPr>
          <p:cNvPr id="3" name="Text 1"/>
          <p:cNvSpPr/>
          <p:nvPr/>
        </p:nvSpPr>
        <p:spPr>
          <a:xfrm>
            <a:off x="365760" y="0"/>
            <a:ext cx="6858000" cy="914400"/>
          </a:xfrm>
          <a:prstGeom prst="rect">
            <a:avLst/>
          </a:prstGeom>
          <a:noFill/>
          <a:ln/>
        </p:spPr>
        <p:txBody>
          <a:bodyPr wrap="square"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Closing: The Daily Examen</a:t>
            </a:r>
            <a:endParaRPr lang="en-US" sz="2800" dirty="0"/>
          </a:p>
        </p:txBody>
      </p:sp>
      <p:sp>
        <p:nvSpPr>
          <p:cNvPr id="4" name="Text 2"/>
          <p:cNvSpPr/>
          <p:nvPr/>
        </p:nvSpPr>
        <p:spPr>
          <a:xfrm>
            <a:off x="6858000" y="0"/>
            <a:ext cx="1920240" cy="914400"/>
          </a:xfrm>
          <a:prstGeom prst="rect">
            <a:avLst/>
          </a:prstGeom>
          <a:noFill/>
          <a:ln/>
        </p:spPr>
        <p:txBody>
          <a:bodyPr wrap="square" rtlCol="0" anchor="ctr"/>
          <a:lstStyle/>
          <a:p>
            <a:pPr algn="r" indent="0" marL="0">
              <a:buNone/>
            </a:pPr>
            <a:r>
              <a:rPr lang="en-US" sz="1200" b="1" dirty="0">
                <a:solidFill>
                  <a:srgbClr val="F0D080"/>
                </a:solidFill>
                <a:latin typeface="Calibri" pitchFamily="34" charset="0"/>
                <a:ea typeface="Calibri" pitchFamily="34" charset="-122"/>
                <a:cs typeface="Calibri" pitchFamily="34" charset="-120"/>
              </a:rPr>
              <a:t>55–60 MIN</a:t>
            </a:r>
            <a:endParaRPr lang="en-US" sz="1200" dirty="0"/>
          </a:p>
        </p:txBody>
      </p:sp>
      <p:sp>
        <p:nvSpPr>
          <p:cNvPr id="5" name="Text 3"/>
          <p:cNvSpPr/>
          <p:nvPr/>
        </p:nvSpPr>
        <p:spPr>
          <a:xfrm>
            <a:off x="365760" y="987552"/>
            <a:ext cx="8229600" cy="347472"/>
          </a:xfrm>
          <a:prstGeom prst="rect">
            <a:avLst/>
          </a:prstGeom>
          <a:noFill/>
          <a:ln/>
        </p:spPr>
        <p:txBody>
          <a:bodyPr wrap="square" rtlCol="0" anchor="ctr"/>
          <a:lstStyle/>
          <a:p>
            <a:pPr algn="l" indent="0" marL="0">
              <a:buNone/>
            </a:pPr>
            <a:r>
              <a:rPr lang="en-US" sz="1400" i="1" dirty="0">
                <a:solidFill>
                  <a:srgbClr val="6B4F8A"/>
                </a:solidFill>
                <a:latin typeface="Calibri" pitchFamily="34" charset="0"/>
                <a:ea typeface="Calibri" pitchFamily="34" charset="-122"/>
                <a:cs typeface="Calibri" pitchFamily="34" charset="-120"/>
              </a:rPr>
              <a:t>A practice to carry through all of Lent -- two questions, asked each evening.</a:t>
            </a:r>
            <a:endParaRPr lang="en-US" sz="1400" dirty="0"/>
          </a:p>
        </p:txBody>
      </p:sp>
      <p:sp>
        <p:nvSpPr>
          <p:cNvPr id="6" name="Shape 4"/>
          <p:cNvSpPr/>
          <p:nvPr/>
        </p:nvSpPr>
        <p:spPr>
          <a:xfrm>
            <a:off x="320040" y="1463040"/>
            <a:ext cx="4023360" cy="2926080"/>
          </a:xfrm>
          <a:prstGeom prst="rect">
            <a:avLst/>
          </a:prstGeom>
          <a:solidFill>
            <a:srgbClr val="3B1F5E"/>
          </a:solidFill>
          <a:ln w="12700">
            <a:solidFill>
              <a:srgbClr val="3B1F5E"/>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20040" y="1463040"/>
            <a:ext cx="4023360" cy="502920"/>
          </a:xfrm>
          <a:prstGeom prst="rect">
            <a:avLst/>
          </a:prstGeom>
          <a:solidFill>
            <a:srgbClr val="5C2D6E"/>
          </a:solidFill>
          <a:ln w="12700">
            <a:solidFill>
              <a:srgbClr val="5C2D6E"/>
            </a:solidFill>
            <a:prstDash val="solid"/>
          </a:ln>
        </p:spPr>
      </p:sp>
      <p:sp>
        <p:nvSpPr>
          <p:cNvPr id="8" name="Text 6"/>
          <p:cNvSpPr/>
          <p:nvPr/>
        </p:nvSpPr>
        <p:spPr>
          <a:xfrm>
            <a:off x="457200" y="1490472"/>
            <a:ext cx="3749040" cy="438912"/>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Good Friday</a:t>
            </a:r>
            <a:endParaRPr lang="en-US" sz="1800" dirty="0"/>
          </a:p>
        </p:txBody>
      </p:sp>
      <p:sp>
        <p:nvSpPr>
          <p:cNvPr id="9" name="Text 7"/>
          <p:cNvSpPr/>
          <p:nvPr/>
        </p:nvSpPr>
        <p:spPr>
          <a:xfrm>
            <a:off x="502920" y="2103120"/>
            <a:ext cx="3657600" cy="1371600"/>
          </a:xfrm>
          <a:prstGeom prst="rect">
            <a:avLst/>
          </a:prstGeom>
          <a:noFill/>
          <a:ln/>
        </p:spPr>
        <p:txBody>
          <a:bodyPr wrap="square" rtlCol="0" anchor="ctr"/>
          <a:lstStyle/>
          <a:p>
            <a:pPr algn="ctr" indent="0" marL="0">
              <a:buNone/>
            </a:pPr>
            <a:r>
              <a:rPr lang="en-US" sz="1500" i="1" dirty="0">
                <a:solidFill>
                  <a:srgbClr val="E8D0F8"/>
                </a:solidFill>
                <a:latin typeface="Georgia" pitchFamily="34" charset="0"/>
                <a:ea typeface="Georgia" pitchFamily="34" charset="-122"/>
                <a:cs typeface="Georgia" pitchFamily="34" charset="-120"/>
              </a:rPr>
              <a:t>Where did I encounter suffering, loss, or darkness today -- in myself or the world?</a:t>
            </a:r>
            <a:endParaRPr lang="en-US" sz="1500" dirty="0"/>
          </a:p>
        </p:txBody>
      </p:sp>
      <p:sp>
        <p:nvSpPr>
          <p:cNvPr id="10" name="Text 8"/>
          <p:cNvSpPr/>
          <p:nvPr/>
        </p:nvSpPr>
        <p:spPr>
          <a:xfrm>
            <a:off x="502920" y="3520440"/>
            <a:ext cx="3657600" cy="640080"/>
          </a:xfrm>
          <a:prstGeom prst="rect">
            <a:avLst/>
          </a:prstGeom>
          <a:noFill/>
          <a:ln/>
        </p:spPr>
        <p:txBody>
          <a:bodyPr wrap="square" rtlCol="0" anchor="ctr"/>
          <a:lstStyle/>
          <a:p>
            <a:pPr algn="ctr" indent="0" marL="0">
              <a:buNone/>
            </a:pPr>
            <a:r>
              <a:rPr lang="en-US" sz="1200" dirty="0">
                <a:solidFill>
                  <a:srgbClr val="C0A0D8"/>
                </a:solidFill>
                <a:latin typeface="Calibri" pitchFamily="34" charset="0"/>
                <a:ea typeface="Calibri" pitchFamily="34" charset="-122"/>
                <a:cs typeface="Calibri" pitchFamily="34" charset="-120"/>
              </a:rPr>
              <a:t>Bring your honest grief to God without rushing toward resolution.</a:t>
            </a:r>
            <a:endParaRPr lang="en-US" sz="1200" dirty="0"/>
          </a:p>
        </p:txBody>
      </p:sp>
      <p:sp>
        <p:nvSpPr>
          <p:cNvPr id="11" name="Shape 9"/>
          <p:cNvSpPr/>
          <p:nvPr/>
        </p:nvSpPr>
        <p:spPr>
          <a:xfrm>
            <a:off x="4800600" y="1463040"/>
            <a:ext cx="4023360" cy="2926080"/>
          </a:xfrm>
          <a:prstGeom prst="rect">
            <a:avLst/>
          </a:prstGeom>
          <a:solidFill>
            <a:srgbClr val="5A3E00"/>
          </a:solidFill>
          <a:ln w="12700">
            <a:solidFill>
              <a:srgbClr val="5A3E00"/>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4800600" y="1463040"/>
            <a:ext cx="4023360" cy="502920"/>
          </a:xfrm>
          <a:prstGeom prst="rect">
            <a:avLst/>
          </a:prstGeom>
          <a:solidFill>
            <a:srgbClr val="C9963A"/>
          </a:solidFill>
          <a:ln w="12700">
            <a:solidFill>
              <a:srgbClr val="C9963A"/>
            </a:solidFill>
            <a:prstDash val="solid"/>
          </a:ln>
        </p:spPr>
      </p:sp>
      <p:sp>
        <p:nvSpPr>
          <p:cNvPr id="13" name="Text 11"/>
          <p:cNvSpPr/>
          <p:nvPr/>
        </p:nvSpPr>
        <p:spPr>
          <a:xfrm>
            <a:off x="4892040" y="1490472"/>
            <a:ext cx="3749040" cy="438912"/>
          </a:xfrm>
          <a:prstGeom prst="rect">
            <a:avLst/>
          </a:prstGeom>
          <a:noFill/>
          <a:ln/>
        </p:spPr>
        <p:txBody>
          <a:bodyPr wrap="square" rtlCol="0" anchor="ctr"/>
          <a:lstStyle/>
          <a:p>
            <a:pPr algn="ctr" indent="0" marL="0">
              <a:buNone/>
            </a:pPr>
            <a:r>
              <a:rPr lang="en-US" sz="1800" b="1" dirty="0">
                <a:solidFill>
                  <a:srgbClr val="3B1F5E"/>
                </a:solidFill>
                <a:latin typeface="Georgia" pitchFamily="34" charset="0"/>
                <a:ea typeface="Georgia" pitchFamily="34" charset="-122"/>
                <a:cs typeface="Georgia" pitchFamily="34" charset="-120"/>
              </a:rPr>
              <a:t>Easter</a:t>
            </a:r>
            <a:endParaRPr lang="en-US" sz="1800" dirty="0"/>
          </a:p>
        </p:txBody>
      </p:sp>
      <p:sp>
        <p:nvSpPr>
          <p:cNvPr id="14" name="Text 12"/>
          <p:cNvSpPr/>
          <p:nvPr/>
        </p:nvSpPr>
        <p:spPr>
          <a:xfrm>
            <a:off x="4892040" y="2103120"/>
            <a:ext cx="3657600" cy="1371600"/>
          </a:xfrm>
          <a:prstGeom prst="rect">
            <a:avLst/>
          </a:prstGeom>
          <a:noFill/>
          <a:ln/>
        </p:spPr>
        <p:txBody>
          <a:bodyPr wrap="square" rtlCol="0" anchor="ctr"/>
          <a:lstStyle/>
          <a:p>
            <a:pPr algn="ctr" indent="0" marL="0">
              <a:buNone/>
            </a:pPr>
            <a:r>
              <a:rPr lang="en-US" sz="1500" i="1" dirty="0">
                <a:solidFill>
                  <a:srgbClr val="F0D080"/>
                </a:solidFill>
                <a:latin typeface="Georgia" pitchFamily="34" charset="0"/>
                <a:ea typeface="Georgia" pitchFamily="34" charset="-122"/>
                <a:cs typeface="Georgia" pitchFamily="34" charset="-120"/>
              </a:rPr>
              <a:t>Where did I glimpse resurrection -- new life, unexpected grace, or stubborn hope?</a:t>
            </a:r>
            <a:endParaRPr lang="en-US" sz="1500" dirty="0"/>
          </a:p>
        </p:txBody>
      </p:sp>
      <p:sp>
        <p:nvSpPr>
          <p:cNvPr id="15" name="Text 13"/>
          <p:cNvSpPr/>
          <p:nvPr/>
        </p:nvSpPr>
        <p:spPr>
          <a:xfrm>
            <a:off x="4892040" y="3520440"/>
            <a:ext cx="3657600" cy="640080"/>
          </a:xfrm>
          <a:prstGeom prst="rect">
            <a:avLst/>
          </a:prstGeom>
          <a:noFill/>
          <a:ln/>
        </p:spPr>
        <p:txBody>
          <a:bodyPr wrap="square" rtlCol="0" anchor="ctr"/>
          <a:lstStyle/>
          <a:p>
            <a:pPr algn="ctr" indent="0" marL="0">
              <a:buNone/>
            </a:pPr>
            <a:r>
              <a:rPr lang="en-US" sz="1200" dirty="0">
                <a:solidFill>
                  <a:srgbClr val="D4A820"/>
                </a:solidFill>
                <a:latin typeface="Calibri" pitchFamily="34" charset="0"/>
                <a:ea typeface="Calibri" pitchFamily="34" charset="-122"/>
                <a:cs typeface="Calibri" pitchFamily="34" charset="-120"/>
              </a:rPr>
              <a:t>Look for the small, stubborn signs of life even in difficult days.</a:t>
            </a:r>
            <a:endParaRPr lang="en-US" sz="1200" dirty="0"/>
          </a:p>
        </p:txBody>
      </p:sp>
      <p:sp>
        <p:nvSpPr>
          <p:cNvPr id="16" name="Text 14"/>
          <p:cNvSpPr/>
          <p:nvPr/>
        </p:nvSpPr>
        <p:spPr>
          <a:xfrm>
            <a:off x="365760" y="4526280"/>
            <a:ext cx="8412480" cy="365760"/>
          </a:xfrm>
          <a:prstGeom prst="rect">
            <a:avLst/>
          </a:prstGeom>
          <a:noFill/>
          <a:ln/>
        </p:spPr>
        <p:txBody>
          <a:bodyPr wrap="square" rtlCol="0" anchor="ctr"/>
          <a:lstStyle/>
          <a:p>
            <a:pPr algn="ctr" indent="0" marL="0">
              <a:buNone/>
            </a:pPr>
            <a:r>
              <a:rPr lang="en-US" sz="1300" i="1" dirty="0">
                <a:solidFill>
                  <a:srgbClr val="6B4F8A"/>
                </a:solidFill>
                <a:latin typeface="Calibri" pitchFamily="34" charset="0"/>
                <a:ea typeface="Calibri" pitchFamily="34" charset="-122"/>
                <a:cs typeface="Calibri" pitchFamily="34" charset="-120"/>
              </a:rPr>
              <a:t>Invite a moment of silence. The light doesn't vanish. It waits.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B1F5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963A"/>
          </a:solidFill>
          <a:ln w="12700">
            <a:solidFill>
              <a:srgbClr val="C9963A"/>
            </a:solidFill>
            <a:prstDash val="solid"/>
          </a:ln>
        </p:spPr>
      </p:sp>
      <p:sp>
        <p:nvSpPr>
          <p:cNvPr id="3" name="Shape 1"/>
          <p:cNvSpPr/>
          <p:nvPr/>
        </p:nvSpPr>
        <p:spPr>
          <a:xfrm>
            <a:off x="0" y="5070348"/>
            <a:ext cx="9144000" cy="73152"/>
          </a:xfrm>
          <a:prstGeom prst="rect">
            <a:avLst/>
          </a:prstGeom>
          <a:solidFill>
            <a:srgbClr val="C9963A"/>
          </a:solidFill>
          <a:ln w="12700">
            <a:solidFill>
              <a:srgbClr val="C9963A"/>
            </a:solidFill>
            <a:prstDash val="solid"/>
          </a:ln>
        </p:spPr>
      </p:sp>
      <p:sp>
        <p:nvSpPr>
          <p:cNvPr id="4" name="Text 2"/>
          <p:cNvSpPr/>
          <p:nvPr/>
        </p:nvSpPr>
        <p:spPr>
          <a:xfrm>
            <a:off x="457200" y="1280160"/>
            <a:ext cx="8229600" cy="777240"/>
          </a:xfrm>
          <a:prstGeom prst="rect">
            <a:avLst/>
          </a:prstGeom>
          <a:noFill/>
          <a:ln/>
        </p:spPr>
        <p:txBody>
          <a:bodyPr wrap="square"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Scripture Readings</a:t>
            </a:r>
            <a:endParaRPr lang="en-US" sz="4200" dirty="0"/>
          </a:p>
        </p:txBody>
      </p:sp>
      <p:sp>
        <p:nvSpPr>
          <p:cNvPr id="5" name="Shape 3"/>
          <p:cNvSpPr/>
          <p:nvPr/>
        </p:nvSpPr>
        <p:spPr>
          <a:xfrm>
            <a:off x="2743200" y="2286000"/>
            <a:ext cx="3657600" cy="45720"/>
          </a:xfrm>
          <a:prstGeom prst="rect">
            <a:avLst/>
          </a:prstGeom>
          <a:solidFill>
            <a:srgbClr val="C9963A"/>
          </a:solidFill>
          <a:ln w="12700">
            <a:solidFill>
              <a:srgbClr val="C9963A"/>
            </a:solidFill>
            <a:prstDash val="solid"/>
          </a:ln>
        </p:spPr>
      </p:sp>
      <p:sp>
        <p:nvSpPr>
          <p:cNvPr id="6" name="Text 4"/>
          <p:cNvSpPr/>
          <p:nvPr/>
        </p:nvSpPr>
        <p:spPr>
          <a:xfrm>
            <a:off x="457200" y="2468880"/>
            <a:ext cx="8229600" cy="411480"/>
          </a:xfrm>
          <a:prstGeom prst="rect">
            <a:avLst/>
          </a:prstGeom>
          <a:noFill/>
          <a:ln/>
        </p:spPr>
        <p:txBody>
          <a:bodyPr wrap="square" rtlCol="0" anchor="ctr"/>
          <a:lstStyle/>
          <a:p>
            <a:pPr algn="ctr" indent="0" marL="0">
              <a:buNone/>
            </a:pPr>
            <a:r>
              <a:rPr lang="en-US" sz="1600" i="1" dirty="0">
                <a:solidFill>
                  <a:srgbClr val="F0D080"/>
                </a:solidFill>
                <a:latin typeface="Calibri" pitchFamily="34" charset="0"/>
                <a:ea typeface="Calibri" pitchFamily="34" charset="-122"/>
                <a:cs typeface="Calibri" pitchFamily="34" charset="-120"/>
              </a:rPr>
              <a:t>For use when the group reads together</a:t>
            </a:r>
            <a:endParaRPr lang="en-US" sz="1600" dirty="0"/>
          </a:p>
        </p:txBody>
      </p:sp>
      <p:sp>
        <p:nvSpPr>
          <p:cNvPr id="7" name="Text 5"/>
          <p:cNvSpPr/>
          <p:nvPr/>
        </p:nvSpPr>
        <p:spPr>
          <a:xfrm>
            <a:off x="1371600" y="3017520"/>
            <a:ext cx="6400800" cy="1645920"/>
          </a:xfrm>
          <a:prstGeom prst="rect">
            <a:avLst/>
          </a:prstGeom>
          <a:noFill/>
          <a:ln/>
        </p:spPr>
        <p:txBody>
          <a:bodyPr wrap="square" rtlCol="0" anchor="ctr"/>
          <a:lstStyle/>
          <a:p>
            <a:pPr algn="ctr" indent="0" marL="0">
              <a:buNone/>
            </a:pPr>
            <a:r>
              <a:rPr lang="en-US" sz="1800" dirty="0">
                <a:solidFill>
                  <a:srgbClr val="C9A8E0"/>
                </a:solidFill>
                <a:latin typeface="Georgia" pitchFamily="34" charset="0"/>
                <a:ea typeface="Georgia" pitchFamily="34" charset="-122"/>
                <a:cs typeface="Georgia" pitchFamily="34" charset="-120"/>
              </a:rPr>
              <a:t>Psalm 22:1-2, 6-11, 14-15, 19, 22-24</a:t>
            </a:r>
            <a:endParaRPr lang="en-US" sz="1800" dirty="0"/>
          </a:p>
          <a:p>
            <a:pPr algn="ctr" indent="0" marL="0">
              <a:buNone/>
            </a:pPr>
            <a:r>
              <a:rPr lang="en-US" sz="1800" dirty="0">
                <a:solidFill>
                  <a:srgbClr val="C9A8E0"/>
                </a:solidFill>
                <a:latin typeface="Georgia" pitchFamily="34" charset="0"/>
                <a:ea typeface="Georgia" pitchFamily="34" charset="-122"/>
                <a:cs typeface="Georgia" pitchFamily="34" charset="-120"/>
              </a:rPr>
              <a:t>Romans 8:18-25</a:t>
            </a:r>
            <a:endParaRPr lang="en-US" sz="1800" dirty="0"/>
          </a:p>
          <a:p>
            <a:pPr algn="ctr" indent="0" marL="0">
              <a:buNone/>
            </a:pPr>
            <a:r>
              <a:rPr lang="en-US" sz="1800" dirty="0">
                <a:solidFill>
                  <a:srgbClr val="C9A8E0"/>
                </a:solidFill>
                <a:latin typeface="Georgia" pitchFamily="34" charset="0"/>
                <a:ea typeface="Georgia" pitchFamily="34" charset="-122"/>
                <a:cs typeface="Georgia" pitchFamily="34" charset="-120"/>
              </a:rPr>
              <a:t>John 11:32-44</a:t>
            </a:r>
            <a:endParaRPr lang="en-US" sz="1800" dirty="0"/>
          </a:p>
          <a:p>
            <a:pPr algn="ctr" indent="0" marL="0">
              <a:buNone/>
            </a:pPr>
            <a:r>
              <a:rPr lang="en-US" sz="1800" dirty="0">
                <a:solidFill>
                  <a:srgbClr val="C9A8E0"/>
                </a:solidFill>
                <a:latin typeface="Georgia" pitchFamily="34" charset="0"/>
                <a:ea typeface="Georgia" pitchFamily="34" charset="-122"/>
                <a:cs typeface="Georgia" pitchFamily="34" charset="-120"/>
              </a:rPr>
              <a:t>Revelation 21:1-5</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B1F5E"/>
          </a:solidFill>
          <a:ln w="12700">
            <a:solidFill>
              <a:srgbClr val="3B1F5E"/>
            </a:solidFill>
            <a:prstDash val="solid"/>
          </a:ln>
        </p:spPr>
      </p:sp>
      <p:sp>
        <p:nvSpPr>
          <p:cNvPr id="3" name="Shape 1"/>
          <p:cNvSpPr/>
          <p:nvPr/>
        </p:nvSpPr>
        <p:spPr>
          <a:xfrm>
            <a:off x="0" y="0"/>
            <a:ext cx="54864" cy="777240"/>
          </a:xfrm>
          <a:prstGeom prst="rect">
            <a:avLst/>
          </a:prstGeom>
          <a:solidFill>
            <a:srgbClr val="C9963A"/>
          </a:solidFill>
          <a:ln w="12700">
            <a:solidFill>
              <a:srgbClr val="C9963A"/>
            </a:solidFill>
            <a:prstDash val="solid"/>
          </a:ln>
        </p:spPr>
      </p:sp>
      <p:sp>
        <p:nvSpPr>
          <p:cNvPr id="4" name="Text 2"/>
          <p:cNvSpPr/>
          <p:nvPr/>
        </p:nvSpPr>
        <p:spPr>
          <a:xfrm>
            <a:off x="228600" y="0"/>
            <a:ext cx="6858000" cy="777240"/>
          </a:xfrm>
          <a:prstGeom prst="rect">
            <a:avLst/>
          </a:prstGeom>
          <a:noFill/>
          <a:ln/>
        </p:spPr>
        <p:txBody>
          <a:bodyPr wrap="square"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Psalm 22:1-2, 6-11, 14-15, 19, 22-24</a:t>
            </a:r>
            <a:endParaRPr lang="en-US" sz="2200" dirty="0"/>
          </a:p>
        </p:txBody>
      </p:sp>
      <p:sp>
        <p:nvSpPr>
          <p:cNvPr id="5" name="Text 3"/>
          <p:cNvSpPr/>
          <p:nvPr/>
        </p:nvSpPr>
        <p:spPr>
          <a:xfrm>
            <a:off x="7086600" y="0"/>
            <a:ext cx="1645920" cy="777240"/>
          </a:xfrm>
          <a:prstGeom prst="rect">
            <a:avLst/>
          </a:prstGeom>
          <a:noFill/>
          <a:ln/>
        </p:spPr>
        <p:txBody>
          <a:bodyPr wrap="square" rtlCol="0" anchor="ctr"/>
          <a:lstStyle/>
          <a:p>
            <a:pPr algn="r" indent="0" marL="0">
              <a:buNone/>
            </a:pPr>
            <a:r>
              <a:rPr lang="en-US" sz="1100" b="1" dirty="0">
                <a:solidFill>
                  <a:srgbClr val="F0D080"/>
                </a:solidFill>
                <a:latin typeface="Calibri" pitchFamily="34" charset="0"/>
                <a:ea typeface="Calibri" pitchFamily="34" charset="-122"/>
                <a:cs typeface="Calibri" pitchFamily="34" charset="-120"/>
              </a:rPr>
              <a:t>NRSV</a:t>
            </a:r>
            <a:endParaRPr lang="en-US" sz="1100" dirty="0"/>
          </a:p>
        </p:txBody>
      </p:sp>
      <p:sp>
        <p:nvSpPr>
          <p:cNvPr id="6" name="Text 4"/>
          <p:cNvSpPr/>
          <p:nvPr/>
        </p:nvSpPr>
        <p:spPr>
          <a:xfrm>
            <a:off x="365760" y="868680"/>
            <a:ext cx="8412480" cy="274320"/>
          </a:xfrm>
          <a:prstGeom prst="rect">
            <a:avLst/>
          </a:prstGeom>
          <a:noFill/>
          <a:ln/>
        </p:spPr>
        <p:txBody>
          <a:bodyPr wrap="square" rtlCol="0" anchor="ctr"/>
          <a:lstStyle/>
          <a:p>
            <a:pPr algn="l" indent="0" marL="0">
              <a:buNone/>
            </a:pPr>
            <a:r>
              <a:rPr lang="en-US" sz="1200" i="1" dirty="0">
                <a:solidFill>
                  <a:srgbClr val="6B4F8A"/>
                </a:solidFill>
                <a:latin typeface="Calibri" pitchFamily="34" charset="0"/>
                <a:ea typeface="Calibri" pitchFamily="34" charset="-122"/>
                <a:cs typeface="Calibri" pitchFamily="34" charset="-120"/>
              </a:rPr>
              <a:t>A Psalm of Lament -- and its turn toward praise. Jesus quoted verse 1 from the cross.</a:t>
            </a:r>
            <a:endParaRPr lang="en-US" sz="1200" dirty="0"/>
          </a:p>
        </p:txBody>
      </p:sp>
      <p:sp>
        <p:nvSpPr>
          <p:cNvPr id="7" name="Text 5"/>
          <p:cNvSpPr/>
          <p:nvPr/>
        </p:nvSpPr>
        <p:spPr>
          <a:xfrm>
            <a:off x="457200" y="1188720"/>
            <a:ext cx="8229600" cy="3451860"/>
          </a:xfrm>
          <a:prstGeom prst="rect">
            <a:avLst/>
          </a:prstGeom>
          <a:noFill/>
          <a:ln/>
        </p:spPr>
        <p:txBody>
          <a:bodyPr wrap="square" rtlCol="0" anchor="t"/>
          <a:lstStyle/>
          <a:p>
            <a:pPr algn="l" indent="0" marL="0">
              <a:buNone/>
            </a:pPr>
            <a:r>
              <a:rPr lang="en-US" sz="1300" dirty="0">
                <a:solidFill>
                  <a:srgbClr val="231340"/>
                </a:solidFill>
                <a:latin typeface="Georgia" pitchFamily="34" charset="0"/>
                <a:ea typeface="Georgia" pitchFamily="34" charset="-122"/>
                <a:cs typeface="Georgia" pitchFamily="34" charset="-120"/>
              </a:rPr>
              <a:t>1 My God, my God, why have you forsaken me?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Why are you so far from helping me, from the words of my groaning?</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 O my God, I cry by day, but you do not answer;</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and by night, but find no rest.</a:t>
            </a:r>
            <a:endParaRPr lang="en-US" sz="1300" dirty="0"/>
          </a:p>
          <a:p>
            <a:pPr algn="l" indent="0" marL="0">
              <a:buNone/>
            </a:pP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6 But I am a worm, and not human;</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scorned by others, and despised by the people.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7 All who see me mock at me;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they make mouths at me, they shake their heads;</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8 'Commit your cause to the Lord; let him deliver--</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let him rescue the one in whom he delights!'</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9 Yet it was you who took me from the womb;</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you kept me safe on my mother's breast.</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10 On you I was cast from my birth,</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and since my mother bore me you have been my God.</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11 Do not be far from me,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for trouble is near and there is no one to help.</a:t>
            </a:r>
            <a:endParaRPr lang="en-US" sz="1300" dirty="0"/>
          </a:p>
        </p:txBody>
      </p:sp>
      <p:sp>
        <p:nvSpPr>
          <p:cNvPr id="8" name="Shape 6"/>
          <p:cNvSpPr/>
          <p:nvPr/>
        </p:nvSpPr>
        <p:spPr>
          <a:xfrm>
            <a:off x="365760" y="4709160"/>
            <a:ext cx="8412480" cy="27432"/>
          </a:xfrm>
          <a:prstGeom prst="rect">
            <a:avLst/>
          </a:prstGeom>
          <a:solidFill>
            <a:srgbClr val="C9963A"/>
          </a:solidFill>
          <a:ln w="12700">
            <a:solidFill>
              <a:srgbClr val="C9963A"/>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B1F5E"/>
          </a:solidFill>
          <a:ln w="12700">
            <a:solidFill>
              <a:srgbClr val="3B1F5E"/>
            </a:solidFill>
            <a:prstDash val="solid"/>
          </a:ln>
        </p:spPr>
      </p:sp>
      <p:sp>
        <p:nvSpPr>
          <p:cNvPr id="3" name="Shape 1"/>
          <p:cNvSpPr/>
          <p:nvPr/>
        </p:nvSpPr>
        <p:spPr>
          <a:xfrm>
            <a:off x="0" y="0"/>
            <a:ext cx="54864" cy="777240"/>
          </a:xfrm>
          <a:prstGeom prst="rect">
            <a:avLst/>
          </a:prstGeom>
          <a:solidFill>
            <a:srgbClr val="C9963A"/>
          </a:solidFill>
          <a:ln w="12700">
            <a:solidFill>
              <a:srgbClr val="C9963A"/>
            </a:solidFill>
            <a:prstDash val="solid"/>
          </a:ln>
        </p:spPr>
      </p:sp>
      <p:sp>
        <p:nvSpPr>
          <p:cNvPr id="4" name="Text 2"/>
          <p:cNvSpPr/>
          <p:nvPr/>
        </p:nvSpPr>
        <p:spPr>
          <a:xfrm>
            <a:off x="228600" y="0"/>
            <a:ext cx="6858000" cy="777240"/>
          </a:xfrm>
          <a:prstGeom prst="rect">
            <a:avLst/>
          </a:prstGeom>
          <a:noFill/>
          <a:ln/>
        </p:spPr>
        <p:txBody>
          <a:bodyPr wrap="square"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Psalm 22:14-15, 19, 22-24</a:t>
            </a:r>
            <a:endParaRPr lang="en-US" sz="2200" dirty="0"/>
          </a:p>
        </p:txBody>
      </p:sp>
      <p:sp>
        <p:nvSpPr>
          <p:cNvPr id="5" name="Text 3"/>
          <p:cNvSpPr/>
          <p:nvPr/>
        </p:nvSpPr>
        <p:spPr>
          <a:xfrm>
            <a:off x="7086600" y="0"/>
            <a:ext cx="1645920" cy="777240"/>
          </a:xfrm>
          <a:prstGeom prst="rect">
            <a:avLst/>
          </a:prstGeom>
          <a:noFill/>
          <a:ln/>
        </p:spPr>
        <p:txBody>
          <a:bodyPr wrap="square" rtlCol="0" anchor="ctr"/>
          <a:lstStyle/>
          <a:p>
            <a:pPr algn="r" indent="0" marL="0">
              <a:buNone/>
            </a:pPr>
            <a:r>
              <a:rPr lang="en-US" sz="1100" b="1" dirty="0">
                <a:solidFill>
                  <a:srgbClr val="F0D080"/>
                </a:solidFill>
                <a:latin typeface="Calibri" pitchFamily="34" charset="0"/>
                <a:ea typeface="Calibri" pitchFamily="34" charset="-122"/>
                <a:cs typeface="Calibri" pitchFamily="34" charset="-120"/>
              </a:rPr>
              <a:t>NRSV</a:t>
            </a:r>
            <a:endParaRPr lang="en-US" sz="1100" dirty="0"/>
          </a:p>
        </p:txBody>
      </p:sp>
      <p:sp>
        <p:nvSpPr>
          <p:cNvPr id="6" name="Text 4"/>
          <p:cNvSpPr/>
          <p:nvPr/>
        </p:nvSpPr>
        <p:spPr>
          <a:xfrm>
            <a:off x="365760" y="868680"/>
            <a:ext cx="8412480" cy="274320"/>
          </a:xfrm>
          <a:prstGeom prst="rect">
            <a:avLst/>
          </a:prstGeom>
          <a:noFill/>
          <a:ln/>
        </p:spPr>
        <p:txBody>
          <a:bodyPr wrap="square" rtlCol="0" anchor="ctr"/>
          <a:lstStyle/>
          <a:p>
            <a:pPr algn="l" indent="0" marL="0">
              <a:buNone/>
            </a:pPr>
            <a:r>
              <a:rPr lang="en-US" sz="1200" i="1" dirty="0">
                <a:solidFill>
                  <a:srgbClr val="6B4F8A"/>
                </a:solidFill>
                <a:latin typeface="Calibri" pitchFamily="34" charset="0"/>
                <a:ea typeface="Calibri" pitchFamily="34" charset="-122"/>
                <a:cs typeface="Calibri" pitchFamily="34" charset="-120"/>
              </a:rPr>
              <a:t>The same psalm -- from physical anguish to praise. Notice the turn at verse 22.</a:t>
            </a:r>
            <a:endParaRPr lang="en-US" sz="1200" dirty="0"/>
          </a:p>
        </p:txBody>
      </p:sp>
      <p:sp>
        <p:nvSpPr>
          <p:cNvPr id="7" name="Text 5"/>
          <p:cNvSpPr/>
          <p:nvPr/>
        </p:nvSpPr>
        <p:spPr>
          <a:xfrm>
            <a:off x="457200" y="1188720"/>
            <a:ext cx="8229600" cy="3451860"/>
          </a:xfrm>
          <a:prstGeom prst="rect">
            <a:avLst/>
          </a:prstGeom>
          <a:noFill/>
          <a:ln/>
        </p:spPr>
        <p:txBody>
          <a:bodyPr wrap="square" rtlCol="0" anchor="t"/>
          <a:lstStyle/>
          <a:p>
            <a:pPr algn="l" indent="0" marL="0">
              <a:buNone/>
            </a:pPr>
            <a:r>
              <a:rPr lang="en-US" sz="1300" dirty="0">
                <a:solidFill>
                  <a:srgbClr val="231340"/>
                </a:solidFill>
                <a:latin typeface="Georgia" pitchFamily="34" charset="0"/>
                <a:ea typeface="Georgia" pitchFamily="34" charset="-122"/>
                <a:cs typeface="Georgia" pitchFamily="34" charset="-120"/>
              </a:rPr>
              <a:t>14 I am poured out like water,</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and all my bones are out of joint;</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my heart is like wax; it is melted within my breast;</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15 my mouth is dried up like a potsherd,</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and my tongue sticks to my jaws;</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you lay me in the dust of death.</a:t>
            </a:r>
            <a:endParaRPr lang="en-US" sz="1300" dirty="0"/>
          </a:p>
          <a:p>
            <a:pPr algn="l" indent="0" marL="0">
              <a:buNone/>
            </a:pP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19 But you, O Lord, do not be far away!</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O my help, come quickly to my aid!</a:t>
            </a:r>
            <a:endParaRPr lang="en-US" sz="1300" dirty="0"/>
          </a:p>
          <a:p>
            <a:pPr algn="l" indent="0" marL="0">
              <a:buNone/>
            </a:pP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22 I will tell of your name to my brothers and sisters;</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in the midst of the congregation I will praise you:</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23 You who fear the Lord, praise him!</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All you offspring of Jacob, glorify him;</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stand in awe of him, all you offspring of Israel!</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24 For he did not despise or abhor the affliction of the afflicted;</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he did not hide his face from me,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but heard when I cried to him.</a:t>
            </a:r>
            <a:endParaRPr lang="en-US" sz="1300" dirty="0"/>
          </a:p>
        </p:txBody>
      </p:sp>
      <p:sp>
        <p:nvSpPr>
          <p:cNvPr id="8" name="Shape 6"/>
          <p:cNvSpPr/>
          <p:nvPr/>
        </p:nvSpPr>
        <p:spPr>
          <a:xfrm>
            <a:off x="365760" y="4709160"/>
            <a:ext cx="8412480" cy="27432"/>
          </a:xfrm>
          <a:prstGeom prst="rect">
            <a:avLst/>
          </a:prstGeom>
          <a:solidFill>
            <a:srgbClr val="C9963A"/>
          </a:solidFill>
          <a:ln w="12700">
            <a:solidFill>
              <a:srgbClr val="C9963A"/>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B1F5E"/>
          </a:solidFill>
          <a:ln w="12700">
            <a:solidFill>
              <a:srgbClr val="3B1F5E"/>
            </a:solidFill>
            <a:prstDash val="solid"/>
          </a:ln>
        </p:spPr>
      </p:sp>
      <p:sp>
        <p:nvSpPr>
          <p:cNvPr id="3" name="Shape 1"/>
          <p:cNvSpPr/>
          <p:nvPr/>
        </p:nvSpPr>
        <p:spPr>
          <a:xfrm>
            <a:off x="0" y="0"/>
            <a:ext cx="54864" cy="777240"/>
          </a:xfrm>
          <a:prstGeom prst="rect">
            <a:avLst/>
          </a:prstGeom>
          <a:solidFill>
            <a:srgbClr val="C9963A"/>
          </a:solidFill>
          <a:ln w="12700">
            <a:solidFill>
              <a:srgbClr val="C9963A"/>
            </a:solidFill>
            <a:prstDash val="solid"/>
          </a:ln>
        </p:spPr>
      </p:sp>
      <p:sp>
        <p:nvSpPr>
          <p:cNvPr id="4" name="Text 2"/>
          <p:cNvSpPr/>
          <p:nvPr/>
        </p:nvSpPr>
        <p:spPr>
          <a:xfrm>
            <a:off x="228600" y="0"/>
            <a:ext cx="6858000" cy="777240"/>
          </a:xfrm>
          <a:prstGeom prst="rect">
            <a:avLst/>
          </a:prstGeom>
          <a:noFill/>
          <a:ln/>
        </p:spPr>
        <p:txBody>
          <a:bodyPr wrap="square"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Romans 8:18-25</a:t>
            </a:r>
            <a:endParaRPr lang="en-US" sz="2200" dirty="0"/>
          </a:p>
        </p:txBody>
      </p:sp>
      <p:sp>
        <p:nvSpPr>
          <p:cNvPr id="5" name="Text 3"/>
          <p:cNvSpPr/>
          <p:nvPr/>
        </p:nvSpPr>
        <p:spPr>
          <a:xfrm>
            <a:off x="7086600" y="0"/>
            <a:ext cx="1645920" cy="777240"/>
          </a:xfrm>
          <a:prstGeom prst="rect">
            <a:avLst/>
          </a:prstGeom>
          <a:noFill/>
          <a:ln/>
        </p:spPr>
        <p:txBody>
          <a:bodyPr wrap="square" rtlCol="0" anchor="ctr"/>
          <a:lstStyle/>
          <a:p>
            <a:pPr algn="r" indent="0" marL="0">
              <a:buNone/>
            </a:pPr>
            <a:r>
              <a:rPr lang="en-US" sz="1100" b="1" dirty="0">
                <a:solidFill>
                  <a:srgbClr val="F0D080"/>
                </a:solidFill>
                <a:latin typeface="Calibri" pitchFamily="34" charset="0"/>
                <a:ea typeface="Calibri" pitchFamily="34" charset="-122"/>
                <a:cs typeface="Calibri" pitchFamily="34" charset="-120"/>
              </a:rPr>
              <a:t>NRSV</a:t>
            </a:r>
            <a:endParaRPr lang="en-US" sz="1100" dirty="0"/>
          </a:p>
        </p:txBody>
      </p:sp>
      <p:sp>
        <p:nvSpPr>
          <p:cNvPr id="6" name="Text 4"/>
          <p:cNvSpPr/>
          <p:nvPr/>
        </p:nvSpPr>
        <p:spPr>
          <a:xfrm>
            <a:off x="365760" y="868680"/>
            <a:ext cx="8412480" cy="274320"/>
          </a:xfrm>
          <a:prstGeom prst="rect">
            <a:avLst/>
          </a:prstGeom>
          <a:noFill/>
          <a:ln/>
        </p:spPr>
        <p:txBody>
          <a:bodyPr wrap="square" rtlCol="0" anchor="ctr"/>
          <a:lstStyle/>
          <a:p>
            <a:pPr algn="l" indent="0" marL="0">
              <a:buNone/>
            </a:pPr>
            <a:r>
              <a:rPr lang="en-US" sz="1200" i="1" dirty="0">
                <a:solidFill>
                  <a:srgbClr val="6B4F8A"/>
                </a:solidFill>
                <a:latin typeface="Calibri" pitchFamily="34" charset="0"/>
                <a:ea typeface="Calibri" pitchFamily="34" charset="-122"/>
                <a:cs typeface="Calibri" pitchFamily="34" charset="-120"/>
              </a:rPr>
              <a:t>Paul on suffering, creation, and hope that is 'not yet seen.'</a:t>
            </a:r>
            <a:endParaRPr lang="en-US" sz="1200" dirty="0"/>
          </a:p>
        </p:txBody>
      </p:sp>
      <p:sp>
        <p:nvSpPr>
          <p:cNvPr id="7" name="Text 5"/>
          <p:cNvSpPr/>
          <p:nvPr/>
        </p:nvSpPr>
        <p:spPr>
          <a:xfrm>
            <a:off x="457200" y="1188720"/>
            <a:ext cx="8229600" cy="3451860"/>
          </a:xfrm>
          <a:prstGeom prst="rect">
            <a:avLst/>
          </a:prstGeom>
          <a:noFill/>
          <a:ln/>
        </p:spPr>
        <p:txBody>
          <a:bodyPr wrap="square" rtlCol="0" anchor="t"/>
          <a:lstStyle/>
          <a:p>
            <a:pPr algn="l" indent="0" marL="0">
              <a:buNone/>
            </a:pPr>
            <a:r>
              <a:rPr lang="en-US" sz="1300" dirty="0">
                <a:solidFill>
                  <a:srgbClr val="231340"/>
                </a:solidFill>
                <a:latin typeface="Georgia" pitchFamily="34" charset="0"/>
                <a:ea typeface="Georgia" pitchFamily="34" charset="-122"/>
                <a:cs typeface="Georgia" pitchFamily="34" charset="-120"/>
              </a:rPr>
              <a:t>18 I consider that the sufferings of this present time are not worth comparing with the glory about to be revealed to us.</a:t>
            </a:r>
            <a:endParaRPr lang="en-US" sz="1300" dirty="0"/>
          </a:p>
          <a:p>
            <a:pPr algn="l" indent="0" marL="0">
              <a:buNone/>
            </a:pP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19 For the creation waits with eager longing for the revealing of the children of God;</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20 for the creation was subjected to futility, not of its own will but by the will of the one who subjected it, in hope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21 that the creation itself will be set free from its bondage to decay and will obtain the freedom of the glory of the children of God.</a:t>
            </a:r>
            <a:endParaRPr lang="en-US" sz="1300" dirty="0"/>
          </a:p>
          <a:p>
            <a:pPr algn="l" indent="0" marL="0">
              <a:buNone/>
            </a:pP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22 We know that the whole creation has been groaning in labor pains until now;</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23 and not only the creation, but we ourselves, who have the first fruits of the Spirit, groan inwardly while we wait for adoption, the redemption of our bodies.</a:t>
            </a:r>
            <a:endParaRPr lang="en-US" sz="1300" dirty="0"/>
          </a:p>
          <a:p>
            <a:pPr algn="l" indent="0" marL="0">
              <a:buNone/>
            </a:pP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24 For in hope we were saved. Now hope that is seen is not hope. For who hopes for what is seen?</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25 But if we hope for what we do not see, we wait for it with patience.</a:t>
            </a:r>
            <a:endParaRPr lang="en-US" sz="1300" dirty="0"/>
          </a:p>
        </p:txBody>
      </p:sp>
      <p:sp>
        <p:nvSpPr>
          <p:cNvPr id="8" name="Shape 6"/>
          <p:cNvSpPr/>
          <p:nvPr/>
        </p:nvSpPr>
        <p:spPr>
          <a:xfrm>
            <a:off x="365760" y="4709160"/>
            <a:ext cx="8412480" cy="27432"/>
          </a:xfrm>
          <a:prstGeom prst="rect">
            <a:avLst/>
          </a:prstGeom>
          <a:solidFill>
            <a:srgbClr val="C9963A"/>
          </a:solidFill>
          <a:ln w="12700">
            <a:solidFill>
              <a:srgbClr val="C9963A"/>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B1F5E"/>
          </a:solidFill>
          <a:ln w="12700">
            <a:solidFill>
              <a:srgbClr val="3B1F5E"/>
            </a:solidFill>
            <a:prstDash val="solid"/>
          </a:ln>
        </p:spPr>
      </p:sp>
      <p:sp>
        <p:nvSpPr>
          <p:cNvPr id="3" name="Shape 1"/>
          <p:cNvSpPr/>
          <p:nvPr/>
        </p:nvSpPr>
        <p:spPr>
          <a:xfrm>
            <a:off x="0" y="0"/>
            <a:ext cx="54864" cy="777240"/>
          </a:xfrm>
          <a:prstGeom prst="rect">
            <a:avLst/>
          </a:prstGeom>
          <a:solidFill>
            <a:srgbClr val="C9963A"/>
          </a:solidFill>
          <a:ln w="12700">
            <a:solidFill>
              <a:srgbClr val="C9963A"/>
            </a:solidFill>
            <a:prstDash val="solid"/>
          </a:ln>
        </p:spPr>
      </p:sp>
      <p:sp>
        <p:nvSpPr>
          <p:cNvPr id="4" name="Text 2"/>
          <p:cNvSpPr/>
          <p:nvPr/>
        </p:nvSpPr>
        <p:spPr>
          <a:xfrm>
            <a:off x="228600" y="0"/>
            <a:ext cx="6858000" cy="777240"/>
          </a:xfrm>
          <a:prstGeom prst="rect">
            <a:avLst/>
          </a:prstGeom>
          <a:noFill/>
          <a:ln/>
        </p:spPr>
        <p:txBody>
          <a:bodyPr wrap="square"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John 11:32-44</a:t>
            </a:r>
            <a:endParaRPr lang="en-US" sz="2200" dirty="0"/>
          </a:p>
        </p:txBody>
      </p:sp>
      <p:sp>
        <p:nvSpPr>
          <p:cNvPr id="5" name="Text 3"/>
          <p:cNvSpPr/>
          <p:nvPr/>
        </p:nvSpPr>
        <p:spPr>
          <a:xfrm>
            <a:off x="7086600" y="0"/>
            <a:ext cx="1645920" cy="777240"/>
          </a:xfrm>
          <a:prstGeom prst="rect">
            <a:avLst/>
          </a:prstGeom>
          <a:noFill/>
          <a:ln/>
        </p:spPr>
        <p:txBody>
          <a:bodyPr wrap="square" rtlCol="0" anchor="ctr"/>
          <a:lstStyle/>
          <a:p>
            <a:pPr algn="r" indent="0" marL="0">
              <a:buNone/>
            </a:pPr>
            <a:r>
              <a:rPr lang="en-US" sz="1100" b="1" dirty="0">
                <a:solidFill>
                  <a:srgbClr val="F0D080"/>
                </a:solidFill>
                <a:latin typeface="Calibri" pitchFamily="34" charset="0"/>
                <a:ea typeface="Calibri" pitchFamily="34" charset="-122"/>
                <a:cs typeface="Calibri" pitchFamily="34" charset="-120"/>
              </a:rPr>
              <a:t>NRSV</a:t>
            </a:r>
            <a:endParaRPr lang="en-US" sz="1100" dirty="0"/>
          </a:p>
        </p:txBody>
      </p:sp>
      <p:sp>
        <p:nvSpPr>
          <p:cNvPr id="6" name="Text 4"/>
          <p:cNvSpPr/>
          <p:nvPr/>
        </p:nvSpPr>
        <p:spPr>
          <a:xfrm>
            <a:off x="365760" y="868680"/>
            <a:ext cx="8412480" cy="274320"/>
          </a:xfrm>
          <a:prstGeom prst="rect">
            <a:avLst/>
          </a:prstGeom>
          <a:noFill/>
          <a:ln/>
        </p:spPr>
        <p:txBody>
          <a:bodyPr wrap="square" rtlCol="0" anchor="ctr"/>
          <a:lstStyle/>
          <a:p>
            <a:pPr algn="l" indent="0" marL="0">
              <a:buNone/>
            </a:pPr>
            <a:r>
              <a:rPr lang="en-US" sz="1200" i="1" dirty="0">
                <a:solidFill>
                  <a:srgbClr val="6B4F8A"/>
                </a:solidFill>
                <a:latin typeface="Calibri" pitchFamily="34" charset="0"/>
                <a:ea typeface="Calibri" pitchFamily="34" charset="-122"/>
                <a:cs typeface="Calibri" pitchFamily="34" charset="-120"/>
              </a:rPr>
              <a:t>The raising of Lazarus -- and the tears Jesus shed before it.</a:t>
            </a:r>
            <a:endParaRPr lang="en-US" sz="1200" dirty="0"/>
          </a:p>
        </p:txBody>
      </p:sp>
      <p:sp>
        <p:nvSpPr>
          <p:cNvPr id="7" name="Text 5"/>
          <p:cNvSpPr/>
          <p:nvPr/>
        </p:nvSpPr>
        <p:spPr>
          <a:xfrm>
            <a:off x="457200" y="1188720"/>
            <a:ext cx="8229600" cy="3451860"/>
          </a:xfrm>
          <a:prstGeom prst="rect">
            <a:avLst/>
          </a:prstGeom>
          <a:noFill/>
          <a:ln/>
        </p:spPr>
        <p:txBody>
          <a:bodyPr wrap="square" rtlCol="0" anchor="t"/>
          <a:lstStyle/>
          <a:p>
            <a:pPr algn="l" indent="0" marL="0">
              <a:buNone/>
            </a:pPr>
            <a:r>
              <a:rPr lang="en-US" sz="1300" dirty="0">
                <a:solidFill>
                  <a:srgbClr val="231340"/>
                </a:solidFill>
                <a:latin typeface="Georgia" pitchFamily="34" charset="0"/>
                <a:ea typeface="Georgia" pitchFamily="34" charset="-122"/>
                <a:cs typeface="Georgia" pitchFamily="34" charset="-120"/>
              </a:rPr>
              <a:t>32 When Mary came where Jesus was and saw him, she knelt at his feet and said to him, 'Lord, if you had been here, my brother would not have died.'</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33 When Jesus saw her weeping, and the Jews who came with her also weeping, he was greatly disturbed in spirit and deeply moved.</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34 He said, 'Where have you laid him?' They said to him, 'Lord, come and see.'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35 Jesus began to weep.</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36 So the Jews said, 'See how he loved him!'</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37 But some of them said, 'Could not he who opened the eyes of the blind man have kept this man from dying?'</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38 Then Jesus, again greatly disturbed, came to the tomb. It was a cave, and a stone was lying against it.</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39 Jesus said, 'Take away the stone.' Martha, the sister of the dead man, said to him, 'Lord, already there is a stench because he has been dead four days.'</a:t>
            </a:r>
            <a:endParaRPr lang="en-US" sz="1300" dirty="0"/>
          </a:p>
        </p:txBody>
      </p:sp>
      <p:sp>
        <p:nvSpPr>
          <p:cNvPr id="8" name="Shape 6"/>
          <p:cNvSpPr/>
          <p:nvPr/>
        </p:nvSpPr>
        <p:spPr>
          <a:xfrm>
            <a:off x="365760" y="4709160"/>
            <a:ext cx="8412480" cy="27432"/>
          </a:xfrm>
          <a:prstGeom prst="rect">
            <a:avLst/>
          </a:prstGeom>
          <a:solidFill>
            <a:srgbClr val="C9963A"/>
          </a:solidFill>
          <a:ln w="12700">
            <a:solidFill>
              <a:srgbClr val="C9963A"/>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B1F5E"/>
          </a:solidFill>
          <a:ln w="12700">
            <a:solidFill>
              <a:srgbClr val="3B1F5E"/>
            </a:solidFill>
            <a:prstDash val="solid"/>
          </a:ln>
        </p:spPr>
      </p:sp>
      <p:sp>
        <p:nvSpPr>
          <p:cNvPr id="3" name="Shape 1"/>
          <p:cNvSpPr/>
          <p:nvPr/>
        </p:nvSpPr>
        <p:spPr>
          <a:xfrm>
            <a:off x="0" y="0"/>
            <a:ext cx="54864" cy="777240"/>
          </a:xfrm>
          <a:prstGeom prst="rect">
            <a:avLst/>
          </a:prstGeom>
          <a:solidFill>
            <a:srgbClr val="C9963A"/>
          </a:solidFill>
          <a:ln w="12700">
            <a:solidFill>
              <a:srgbClr val="C9963A"/>
            </a:solidFill>
            <a:prstDash val="solid"/>
          </a:ln>
        </p:spPr>
      </p:sp>
      <p:sp>
        <p:nvSpPr>
          <p:cNvPr id="4" name="Text 2"/>
          <p:cNvSpPr/>
          <p:nvPr/>
        </p:nvSpPr>
        <p:spPr>
          <a:xfrm>
            <a:off x="228600" y="0"/>
            <a:ext cx="6858000" cy="777240"/>
          </a:xfrm>
          <a:prstGeom prst="rect">
            <a:avLst/>
          </a:prstGeom>
          <a:noFill/>
          <a:ln/>
        </p:spPr>
        <p:txBody>
          <a:bodyPr wrap="square"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John 11:38-44</a:t>
            </a:r>
            <a:endParaRPr lang="en-US" sz="2200" dirty="0"/>
          </a:p>
        </p:txBody>
      </p:sp>
      <p:sp>
        <p:nvSpPr>
          <p:cNvPr id="5" name="Text 3"/>
          <p:cNvSpPr/>
          <p:nvPr/>
        </p:nvSpPr>
        <p:spPr>
          <a:xfrm>
            <a:off x="7086600" y="0"/>
            <a:ext cx="1645920" cy="777240"/>
          </a:xfrm>
          <a:prstGeom prst="rect">
            <a:avLst/>
          </a:prstGeom>
          <a:noFill/>
          <a:ln/>
        </p:spPr>
        <p:txBody>
          <a:bodyPr wrap="square" rtlCol="0" anchor="ctr"/>
          <a:lstStyle/>
          <a:p>
            <a:pPr algn="r" indent="0" marL="0">
              <a:buNone/>
            </a:pPr>
            <a:r>
              <a:rPr lang="en-US" sz="1100" b="1" dirty="0">
                <a:solidFill>
                  <a:srgbClr val="F0D080"/>
                </a:solidFill>
                <a:latin typeface="Calibri" pitchFamily="34" charset="0"/>
                <a:ea typeface="Calibri" pitchFamily="34" charset="-122"/>
                <a:cs typeface="Calibri" pitchFamily="34" charset="-120"/>
              </a:rPr>
              <a:t>NRSV</a:t>
            </a:r>
            <a:endParaRPr lang="en-US" sz="1100" dirty="0"/>
          </a:p>
        </p:txBody>
      </p:sp>
      <p:sp>
        <p:nvSpPr>
          <p:cNvPr id="6" name="Text 4"/>
          <p:cNvSpPr/>
          <p:nvPr/>
        </p:nvSpPr>
        <p:spPr>
          <a:xfrm>
            <a:off x="365760" y="868680"/>
            <a:ext cx="8412480" cy="274320"/>
          </a:xfrm>
          <a:prstGeom prst="rect">
            <a:avLst/>
          </a:prstGeom>
          <a:noFill/>
          <a:ln/>
        </p:spPr>
        <p:txBody>
          <a:bodyPr wrap="square" rtlCol="0" anchor="ctr"/>
          <a:lstStyle/>
          <a:p>
            <a:pPr algn="l" indent="0" marL="0">
              <a:buNone/>
            </a:pPr>
            <a:r>
              <a:rPr lang="en-US" sz="1200" i="1" dirty="0">
                <a:solidFill>
                  <a:srgbClr val="6B4F8A"/>
                </a:solidFill>
                <a:latin typeface="Calibri" pitchFamily="34" charset="0"/>
                <a:ea typeface="Calibri" pitchFamily="34" charset="-122"/>
                <a:cs typeface="Calibri" pitchFamily="34" charset="-120"/>
              </a:rPr>
              <a:t>The miracle -- and what came just before it.</a:t>
            </a:r>
            <a:endParaRPr lang="en-US" sz="1200" dirty="0"/>
          </a:p>
        </p:txBody>
      </p:sp>
      <p:sp>
        <p:nvSpPr>
          <p:cNvPr id="7" name="Text 5"/>
          <p:cNvSpPr/>
          <p:nvPr/>
        </p:nvSpPr>
        <p:spPr>
          <a:xfrm>
            <a:off x="457200" y="1188720"/>
            <a:ext cx="8229600" cy="3451860"/>
          </a:xfrm>
          <a:prstGeom prst="rect">
            <a:avLst/>
          </a:prstGeom>
          <a:noFill/>
          <a:ln/>
        </p:spPr>
        <p:txBody>
          <a:bodyPr wrap="square" rtlCol="0" anchor="t"/>
          <a:lstStyle/>
          <a:p>
            <a:pPr algn="l" indent="0" marL="0">
              <a:buNone/>
            </a:pPr>
            <a:r>
              <a:rPr lang="en-US" sz="1300" dirty="0">
                <a:solidFill>
                  <a:srgbClr val="231340"/>
                </a:solidFill>
                <a:latin typeface="Georgia" pitchFamily="34" charset="0"/>
                <a:ea typeface="Georgia" pitchFamily="34" charset="-122"/>
                <a:cs typeface="Georgia" pitchFamily="34" charset="-120"/>
              </a:rPr>
              <a:t>38 Then Jesus, again greatly disturbed, came to the tomb. It was a cave, and a stone was lying against it.</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39 Jesus said, 'Take away the stone.' Martha, the sister of the dead man, said to him, 'Lord, already there is a stench because he has been dead four days.'</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40 Jesus said to her, 'Did I not tell you that if you believed, you would see the glory of God?'</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41 So they took away the stone. And Jesus looked upward and said, 'Father, I thank you for having heard me.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42 I knew that you always hear me, but I have said this for the sake of the crowd standing here, so that they may believe that you sent me.'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43 When he had said this, he cried with a loud voice, 'Lazarus, come out!'</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44 The dead man came out, his hands and feet bound with strips of cloth, and his face wrapped in a cloth. Jesus said to them, 'Unbind him, and let him go.'</a:t>
            </a:r>
            <a:endParaRPr lang="en-US" sz="1300" dirty="0"/>
          </a:p>
        </p:txBody>
      </p:sp>
      <p:sp>
        <p:nvSpPr>
          <p:cNvPr id="8" name="Shape 6"/>
          <p:cNvSpPr/>
          <p:nvPr/>
        </p:nvSpPr>
        <p:spPr>
          <a:xfrm>
            <a:off x="365760" y="4709160"/>
            <a:ext cx="8412480" cy="27432"/>
          </a:xfrm>
          <a:prstGeom prst="rect">
            <a:avLst/>
          </a:prstGeom>
          <a:solidFill>
            <a:srgbClr val="C9963A"/>
          </a:solidFill>
          <a:ln w="12700">
            <a:solidFill>
              <a:srgbClr val="C9963A"/>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3B1F5E"/>
          </a:solidFill>
          <a:ln w="12700">
            <a:solidFill>
              <a:srgbClr val="3B1F5E"/>
            </a:solidFill>
            <a:prstDash val="solid"/>
          </a:ln>
        </p:spPr>
      </p:sp>
      <p:sp>
        <p:nvSpPr>
          <p:cNvPr id="3" name="Shape 1"/>
          <p:cNvSpPr/>
          <p:nvPr/>
        </p:nvSpPr>
        <p:spPr>
          <a:xfrm>
            <a:off x="0" y="0"/>
            <a:ext cx="54864" cy="777240"/>
          </a:xfrm>
          <a:prstGeom prst="rect">
            <a:avLst/>
          </a:prstGeom>
          <a:solidFill>
            <a:srgbClr val="C9963A"/>
          </a:solidFill>
          <a:ln w="12700">
            <a:solidFill>
              <a:srgbClr val="C9963A"/>
            </a:solidFill>
            <a:prstDash val="solid"/>
          </a:ln>
        </p:spPr>
      </p:sp>
      <p:sp>
        <p:nvSpPr>
          <p:cNvPr id="4" name="Text 2"/>
          <p:cNvSpPr/>
          <p:nvPr/>
        </p:nvSpPr>
        <p:spPr>
          <a:xfrm>
            <a:off x="228600" y="0"/>
            <a:ext cx="6858000" cy="777240"/>
          </a:xfrm>
          <a:prstGeom prst="rect">
            <a:avLst/>
          </a:prstGeom>
          <a:noFill/>
          <a:ln/>
        </p:spPr>
        <p:txBody>
          <a:bodyPr wrap="square"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Revelation 21:1-5</a:t>
            </a:r>
            <a:endParaRPr lang="en-US" sz="2200" dirty="0"/>
          </a:p>
        </p:txBody>
      </p:sp>
      <p:sp>
        <p:nvSpPr>
          <p:cNvPr id="5" name="Text 3"/>
          <p:cNvSpPr/>
          <p:nvPr/>
        </p:nvSpPr>
        <p:spPr>
          <a:xfrm>
            <a:off x="7086600" y="0"/>
            <a:ext cx="1645920" cy="777240"/>
          </a:xfrm>
          <a:prstGeom prst="rect">
            <a:avLst/>
          </a:prstGeom>
          <a:noFill/>
          <a:ln/>
        </p:spPr>
        <p:txBody>
          <a:bodyPr wrap="square" rtlCol="0" anchor="ctr"/>
          <a:lstStyle/>
          <a:p>
            <a:pPr algn="r" indent="0" marL="0">
              <a:buNone/>
            </a:pPr>
            <a:r>
              <a:rPr lang="en-US" sz="1100" b="1" dirty="0">
                <a:solidFill>
                  <a:srgbClr val="F0D080"/>
                </a:solidFill>
                <a:latin typeface="Calibri" pitchFamily="34" charset="0"/>
                <a:ea typeface="Calibri" pitchFamily="34" charset="-122"/>
                <a:cs typeface="Calibri" pitchFamily="34" charset="-120"/>
              </a:rPr>
              <a:t>NRSV</a:t>
            </a:r>
            <a:endParaRPr lang="en-US" sz="1100" dirty="0"/>
          </a:p>
        </p:txBody>
      </p:sp>
      <p:sp>
        <p:nvSpPr>
          <p:cNvPr id="6" name="Text 4"/>
          <p:cNvSpPr/>
          <p:nvPr/>
        </p:nvSpPr>
        <p:spPr>
          <a:xfrm>
            <a:off x="365760" y="868680"/>
            <a:ext cx="8412480" cy="274320"/>
          </a:xfrm>
          <a:prstGeom prst="rect">
            <a:avLst/>
          </a:prstGeom>
          <a:noFill/>
          <a:ln/>
        </p:spPr>
        <p:txBody>
          <a:bodyPr wrap="square" rtlCol="0" anchor="ctr"/>
          <a:lstStyle/>
          <a:p>
            <a:pPr algn="l" indent="0" marL="0">
              <a:buNone/>
            </a:pPr>
            <a:r>
              <a:rPr lang="en-US" sz="1200" i="1" dirty="0">
                <a:solidFill>
                  <a:srgbClr val="6B4F8A"/>
                </a:solidFill>
                <a:latin typeface="Calibri" pitchFamily="34" charset="0"/>
                <a:ea typeface="Calibri" pitchFamily="34" charset="-122"/>
                <a:cs typeface="Calibri" pitchFamily="34" charset="-120"/>
              </a:rPr>
              <a:t>The Easter horizon -- the vision that holds the whole season.</a:t>
            </a:r>
            <a:endParaRPr lang="en-US" sz="1200" dirty="0"/>
          </a:p>
        </p:txBody>
      </p:sp>
      <p:sp>
        <p:nvSpPr>
          <p:cNvPr id="7" name="Text 5"/>
          <p:cNvSpPr/>
          <p:nvPr/>
        </p:nvSpPr>
        <p:spPr>
          <a:xfrm>
            <a:off x="457200" y="1188720"/>
            <a:ext cx="8229600" cy="3451860"/>
          </a:xfrm>
          <a:prstGeom prst="rect">
            <a:avLst/>
          </a:prstGeom>
          <a:noFill/>
          <a:ln/>
        </p:spPr>
        <p:txBody>
          <a:bodyPr wrap="square" rtlCol="0" anchor="t"/>
          <a:lstStyle/>
          <a:p>
            <a:pPr algn="l" indent="0" marL="0">
              <a:buNone/>
            </a:pPr>
            <a:r>
              <a:rPr lang="en-US" sz="1300" dirty="0">
                <a:solidFill>
                  <a:srgbClr val="231340"/>
                </a:solidFill>
                <a:latin typeface="Georgia" pitchFamily="34" charset="0"/>
                <a:ea typeface="Georgia" pitchFamily="34" charset="-122"/>
                <a:cs typeface="Georgia" pitchFamily="34" charset="-120"/>
              </a:rPr>
              <a:t>1 Then I saw a new heaven and a new earth; for the first heaven and the first earth had passed away, and the sea was no more.</a:t>
            </a:r>
            <a:endParaRPr lang="en-US" sz="1300" dirty="0"/>
          </a:p>
          <a:p>
            <a:pPr algn="l" indent="0" marL="0">
              <a:buNone/>
            </a:pP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2 And I saw the holy city, the new Jerusalem, coming down out of heaven from God, prepared as a bride adorned for her husband.</a:t>
            </a:r>
            <a:endParaRPr lang="en-US" sz="1300" dirty="0"/>
          </a:p>
          <a:p>
            <a:pPr algn="l" indent="0" marL="0">
              <a:buNone/>
            </a:pP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3 And I heard a loud voice from the throne saying,</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'See, the home of God is among mortals.</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He will dwell with them;</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they will be his peoples,</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and God himself will be with them;</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4 he will wipe every tear from their eyes.</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Death will be no more;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mourning and crying and pain will be no more,</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for the first things have passed away.'</a:t>
            </a:r>
            <a:endParaRPr lang="en-US" sz="1300" dirty="0"/>
          </a:p>
          <a:p>
            <a:pPr algn="l" indent="0" marL="0">
              <a:buNone/>
            </a:pP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5 And the one who was seated on the throne said,</a:t>
            </a:r>
            <a:endParaRPr lang="en-US" sz="1300" dirty="0"/>
          </a:p>
          <a:p>
            <a:pPr algn="l" indent="0" marL="0">
              <a:buNone/>
            </a:pPr>
            <a:r>
              <a:rPr lang="en-US" sz="1300" dirty="0">
                <a:solidFill>
                  <a:srgbClr val="231340"/>
                </a:solidFill>
                <a:latin typeface="Georgia" pitchFamily="34" charset="0"/>
                <a:ea typeface="Georgia" pitchFamily="34" charset="-122"/>
                <a:cs typeface="Georgia" pitchFamily="34" charset="-120"/>
              </a:rPr>
              <a:t>   'See, I am making all things new.'</a:t>
            </a:r>
            <a:endParaRPr lang="en-US" sz="1300" dirty="0"/>
          </a:p>
        </p:txBody>
      </p:sp>
      <p:sp>
        <p:nvSpPr>
          <p:cNvPr id="8" name="Shape 6"/>
          <p:cNvSpPr/>
          <p:nvPr/>
        </p:nvSpPr>
        <p:spPr>
          <a:xfrm>
            <a:off x="365760" y="4709160"/>
            <a:ext cx="8412480" cy="27432"/>
          </a:xfrm>
          <a:prstGeom prst="rect">
            <a:avLst/>
          </a:prstGeom>
          <a:solidFill>
            <a:srgbClr val="C9963A"/>
          </a:solidFill>
          <a:ln w="12700">
            <a:solidFill>
              <a:srgbClr val="C9963A"/>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B1F5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963A"/>
          </a:solidFill>
          <a:ln w="12700">
            <a:solidFill>
              <a:srgbClr val="C9963A"/>
            </a:solidFill>
            <a:prstDash val="solid"/>
          </a:ln>
        </p:spPr>
      </p:sp>
      <p:sp>
        <p:nvSpPr>
          <p:cNvPr id="3" name="Shape 1"/>
          <p:cNvSpPr/>
          <p:nvPr/>
        </p:nvSpPr>
        <p:spPr>
          <a:xfrm>
            <a:off x="0" y="5070348"/>
            <a:ext cx="9144000" cy="73152"/>
          </a:xfrm>
          <a:prstGeom prst="rect">
            <a:avLst/>
          </a:prstGeom>
          <a:solidFill>
            <a:srgbClr val="C9963A"/>
          </a:solidFill>
          <a:ln w="12700">
            <a:solidFill>
              <a:srgbClr val="C9963A"/>
            </a:solidFill>
            <a:prstDash val="solid"/>
          </a:ln>
        </p:spPr>
      </p:sp>
      <p:sp>
        <p:nvSpPr>
          <p:cNvPr id="4" name="Shape 2"/>
          <p:cNvSpPr/>
          <p:nvPr/>
        </p:nvSpPr>
        <p:spPr>
          <a:xfrm>
            <a:off x="4407408" y="182880"/>
            <a:ext cx="329184" cy="4754880"/>
          </a:xfrm>
          <a:prstGeom prst="rect">
            <a:avLst/>
          </a:prstGeom>
          <a:solidFill>
            <a:srgbClr val="C9963A">
              <a:alpha val="20000"/>
            </a:srgbClr>
          </a:solidFill>
          <a:ln w="12700">
            <a:solidFill>
              <a:srgbClr val="C9963A">
                <a:alpha val="20000"/>
              </a:srgbClr>
            </a:solidFill>
            <a:prstDash val="solid"/>
          </a:ln>
        </p:spPr>
      </p:sp>
      <p:sp>
        <p:nvSpPr>
          <p:cNvPr id="5" name="Shape 3"/>
          <p:cNvSpPr/>
          <p:nvPr/>
        </p:nvSpPr>
        <p:spPr>
          <a:xfrm>
            <a:off x="3200400" y="1371600"/>
            <a:ext cx="2743200" cy="329184"/>
          </a:xfrm>
          <a:prstGeom prst="rect">
            <a:avLst/>
          </a:prstGeom>
          <a:solidFill>
            <a:srgbClr val="C9963A">
              <a:alpha val="20000"/>
            </a:srgbClr>
          </a:solidFill>
          <a:ln w="12700">
            <a:solidFill>
              <a:srgbClr val="C9963A">
                <a:alpha val="20000"/>
              </a:srgbClr>
            </a:solidFill>
            <a:prstDash val="solid"/>
          </a:ln>
        </p:spPr>
      </p:sp>
      <p:sp>
        <p:nvSpPr>
          <p:cNvPr id="6" name="Text 4"/>
          <p:cNvSpPr/>
          <p:nvPr/>
        </p:nvSpPr>
        <p:spPr>
          <a:xfrm>
            <a:off x="457200" y="914400"/>
            <a:ext cx="8229600" cy="594360"/>
          </a:xfrm>
          <a:prstGeom prst="rect">
            <a:avLst/>
          </a:prstGeom>
          <a:noFill/>
          <a:ln/>
        </p:spPr>
        <p:txBody>
          <a:bodyPr wrap="square" rtlCol="0" anchor="ctr"/>
          <a:lstStyle/>
          <a:p>
            <a:pPr algn="ctr" indent="0" marL="0">
              <a:buNone/>
            </a:pPr>
            <a:r>
              <a:rPr lang="en-US" sz="3800" b="1" dirty="0">
                <a:solidFill>
                  <a:srgbClr val="FFFFFF"/>
                </a:solidFill>
                <a:latin typeface="Georgia" pitchFamily="34" charset="0"/>
                <a:ea typeface="Georgia" pitchFamily="34" charset="-122"/>
                <a:cs typeface="Georgia" pitchFamily="34" charset="-120"/>
              </a:rPr>
              <a:t>Go in Peace --</a:t>
            </a:r>
            <a:endParaRPr lang="en-US" sz="3800" dirty="0"/>
          </a:p>
        </p:txBody>
      </p:sp>
      <p:sp>
        <p:nvSpPr>
          <p:cNvPr id="7" name="Text 5"/>
          <p:cNvSpPr/>
          <p:nvPr/>
        </p:nvSpPr>
        <p:spPr>
          <a:xfrm>
            <a:off x="457200" y="1554480"/>
            <a:ext cx="8229600" cy="594360"/>
          </a:xfrm>
          <a:prstGeom prst="rect">
            <a:avLst/>
          </a:prstGeom>
          <a:noFill/>
          <a:ln/>
        </p:spPr>
        <p:txBody>
          <a:bodyPr wrap="square" rtlCol="0" anchor="ctr"/>
          <a:lstStyle/>
          <a:p>
            <a:pPr algn="ctr" indent="0" marL="0">
              <a:buNone/>
            </a:pPr>
            <a:r>
              <a:rPr lang="en-US" sz="3800" i="1" dirty="0">
                <a:solidFill>
                  <a:srgbClr val="F0D080"/>
                </a:solidFill>
                <a:latin typeface="Georgia" pitchFamily="34" charset="0"/>
                <a:ea typeface="Georgia" pitchFamily="34" charset="-122"/>
                <a:cs typeface="Georgia" pitchFamily="34" charset="-120"/>
              </a:rPr>
              <a:t>and carry both.</a:t>
            </a:r>
            <a:endParaRPr lang="en-US" sz="3800" dirty="0"/>
          </a:p>
        </p:txBody>
      </p:sp>
      <p:sp>
        <p:nvSpPr>
          <p:cNvPr id="8" name="Shape 6"/>
          <p:cNvSpPr/>
          <p:nvPr/>
        </p:nvSpPr>
        <p:spPr>
          <a:xfrm>
            <a:off x="3200400" y="2331720"/>
            <a:ext cx="2743200" cy="45720"/>
          </a:xfrm>
          <a:prstGeom prst="rect">
            <a:avLst/>
          </a:prstGeom>
          <a:solidFill>
            <a:srgbClr val="C9963A"/>
          </a:solidFill>
          <a:ln w="12700">
            <a:solidFill>
              <a:srgbClr val="C9963A"/>
            </a:solidFill>
            <a:prstDash val="solid"/>
          </a:ln>
        </p:spPr>
      </p:sp>
      <p:sp>
        <p:nvSpPr>
          <p:cNvPr id="9" name="Text 7"/>
          <p:cNvSpPr/>
          <p:nvPr/>
        </p:nvSpPr>
        <p:spPr>
          <a:xfrm>
            <a:off x="914400" y="2560320"/>
            <a:ext cx="7315200" cy="1005840"/>
          </a:xfrm>
          <a:prstGeom prst="rect">
            <a:avLst/>
          </a:prstGeom>
          <a:noFill/>
          <a:ln/>
        </p:spPr>
        <p:txBody>
          <a:bodyPr wrap="square" rtlCol="0" anchor="ctr"/>
          <a:lstStyle/>
          <a:p>
            <a:pPr algn="ctr" indent="0" marL="0">
              <a:buNone/>
            </a:pPr>
            <a:r>
              <a:rPr lang="en-US" sz="2000" i="1" dirty="0">
                <a:solidFill>
                  <a:srgbClr val="C9A8E0"/>
                </a:solidFill>
                <a:latin typeface="Georgia" pitchFamily="34" charset="0"/>
                <a:ea typeface="Georgia" pitchFamily="34" charset="-122"/>
                <a:cs typeface="Georgia" pitchFamily="34" charset="-120"/>
              </a:rPr>
              <a:t>The light doesn't vanish.</a:t>
            </a:r>
            <a:endParaRPr lang="en-US" sz="2000" dirty="0"/>
          </a:p>
          <a:p>
            <a:pPr algn="ctr" indent="0" marL="0">
              <a:buNone/>
            </a:pPr>
            <a:r>
              <a:rPr lang="en-US" sz="2000" i="1" dirty="0">
                <a:solidFill>
                  <a:srgbClr val="C9A8E0"/>
                </a:solidFill>
                <a:latin typeface="Georgia" pitchFamily="34" charset="0"/>
                <a:ea typeface="Georgia" pitchFamily="34" charset="-122"/>
                <a:cs typeface="Georgia" pitchFamily="34" charset="-120"/>
              </a:rPr>
              <a:t>It waits.</a:t>
            </a:r>
            <a:endParaRPr lang="en-US" sz="2000" dirty="0"/>
          </a:p>
        </p:txBody>
      </p:sp>
      <p:sp>
        <p:nvSpPr>
          <p:cNvPr id="10" name="Text 8"/>
          <p:cNvSpPr/>
          <p:nvPr/>
        </p:nvSpPr>
        <p:spPr>
          <a:xfrm>
            <a:off x="914400" y="3749040"/>
            <a:ext cx="7315200" cy="365760"/>
          </a:xfrm>
          <a:prstGeom prst="rect">
            <a:avLst/>
          </a:prstGeom>
          <a:noFill/>
          <a:ln/>
        </p:spPr>
        <p:txBody>
          <a:bodyPr wrap="square" rtlCol="0" anchor="ctr"/>
          <a:lstStyle/>
          <a:p>
            <a:pPr algn="ctr" indent="0" marL="0">
              <a:buNone/>
            </a:pPr>
            <a:r>
              <a:rPr lang="en-US" sz="1300" dirty="0">
                <a:solidFill>
                  <a:srgbClr val="9B7DB8"/>
                </a:solidFill>
                <a:latin typeface="Calibri" pitchFamily="34" charset="0"/>
                <a:ea typeface="Calibri" pitchFamily="34" charset="-122"/>
                <a:cs typeface="Calibri" pitchFamily="34" charset="-120"/>
              </a:rPr>
              <a:t>John 11 · Romans 8 · Revelation 21:4</a:t>
            </a:r>
            <a:endParaRPr lang="en-US" sz="1300" dirty="0"/>
          </a:p>
        </p:txBody>
      </p:sp>
      <p:sp>
        <p:nvSpPr>
          <p:cNvPr id="11" name="Text 9"/>
          <p:cNvSpPr/>
          <p:nvPr/>
        </p:nvSpPr>
        <p:spPr>
          <a:xfrm>
            <a:off x="914400" y="4251960"/>
            <a:ext cx="7315200" cy="502920"/>
          </a:xfrm>
          <a:prstGeom prst="rect">
            <a:avLst/>
          </a:prstGeom>
          <a:noFill/>
          <a:ln/>
        </p:spPr>
        <p:txBody>
          <a:bodyPr wrap="square" rtlCol="0" anchor="ctr"/>
          <a:lstStyle/>
          <a:p>
            <a:pPr algn="ctr" indent="0" marL="0">
              <a:buNone/>
            </a:pPr>
            <a:r>
              <a:rPr lang="en-US" sz="1600" b="1" dirty="0">
                <a:solidFill>
                  <a:srgbClr val="C9963A"/>
                </a:solidFill>
                <a:latin typeface="Georgia" pitchFamily="34" charset="0"/>
                <a:ea typeface="Georgia" pitchFamily="34" charset="-122"/>
                <a:cs typeface="Georgia" pitchFamily="34" charset="-120"/>
              </a:rPr>
              <a:t>Thanks be to God.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Easter People in a Good Friday World</dc:title>
  <dc:subject>PptxGenJS Presentation</dc:subject>
  <dc:creator>PptxGenJS</dc:creator>
  <cp:lastModifiedBy>PptxGenJS</cp:lastModifiedBy>
  <cp:revision>1</cp:revision>
  <dcterms:created xsi:type="dcterms:W3CDTF">2026-02-22T03:18:13Z</dcterms:created>
  <dcterms:modified xsi:type="dcterms:W3CDTF">2026-02-22T03:18:13Z</dcterms:modified>
</cp:coreProperties>
</file>